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457200" cy="5486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200" b="1">
                <a:solidFill>
                  <a:srgbClr val="212121"/>
                </a:solidFill>
                <a:latin typeface="맑은 고딕"/>
              </a:rPr>
              <a:t>2022년 1회 PDF → CBT 문항 엑셀 자동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757575"/>
                </a:solidFill>
                <a:latin typeface="맑은 고딕"/>
              </a:rPr>
              <a:t>전기기능사 학습 서비스 · 문항 데이터 입력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맑은 고딕"/>
              </a:rPr>
              <a:t>발표일: 2026-05-15  ·  대상: 팀원/공동작업자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1. 작업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시중 출간 PDF → 우리 CBT 시스템에 바로 올라가는 엑셀 양식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2185B"/>
                </a:solidFill>
                <a:latin typeface="맑은 고딕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>• PDF 모의고사 1회분 (60문항) 전체를</a:t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>  v2 엑셀 양식으로 자동 변환</a:t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>• 발문 / 보기 / 해설 / 오답분석 / 학습 POINT</a:t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>  5개 요소를 컬럼 단위로 분리</a:t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>• 수식·표는 HTML로 입력</a:t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>  (업로드 시 그대로 렌더링)</a:t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500" b="0">
                <a:solidFill>
                  <a:srgbClr val="212121"/>
                </a:solidFill>
                <a:latin typeface="맑은 고딕"/>
              </a:rPr>
              <a:t>• 그림이 필요한 위치는 컬럼에 명시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E8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맑은 고딕"/>
              </a:rPr>
              <a:t>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① data/templates/question-template-v2.xlsx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   — 단순 등록용 v2 양식 (21컬럼)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② data/templates/[…]통합템플릿_v2.xlsx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   — 메타데이터 포함 v2 양식 (42컬럼)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③ data/2022_1회_변환결과_v2.xlsx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   — 60문항 전체 변환 결과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④ tools/manual_fixes.py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   — 60문항 보완 데이터 (재사용 가능)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⑤ tools/convert_2022_1.py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   — 변환 스크립트 (다른 회차에도 적용)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2. 엑셀 양식 v2 컬럼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각 요소를 별도 컬럼으로 분리 · 텍스트 컬럼은 HTML 허용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3108960"/>
                <a:gridCol w="731520"/>
                <a:gridCol w="4846320"/>
              </a:tblGrid>
              <a:tr h="39389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HTML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문제 본문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&lt;br&gt;, &lt;sub&gt;, &lt;sup&gt;, &lt;strong&gt;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주어진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발문그림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회로도·도면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파일명 또는 [필요: …]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보기1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① 텍스트/수식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그림형이면 비우거나 캡션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보기1그림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① 그림 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6~11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보기2~4 + 그림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✅/—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정답(1~4)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1·2·3·4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해설 본문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&lt;table&gt;, &lt;ol&gt;, &lt;ul&gt; 가능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해설그림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해설 다이어그램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오답분석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②③④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&lt;ol&gt;&lt;li&gt;...&lt;/li&gt;&lt;/ol&gt; 권장</a:t>
                      </a:r>
                    </a:p>
                  </a:txBody>
                  <a:tcPr/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학습포인트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독끝 학습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&lt;table&gt; 가능</a:t>
                      </a:r>
                    </a:p>
                  </a:txBody>
                  <a:tcPr/>
                </a:tc>
              </a:tr>
              <a:tr h="393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학습포인트그림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3. PDF에서 텍스트 추출할 때 만난 이슈 15가지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pypdf로 추출 → 어디서 깨지고 어디서 노이즈가 들어오는가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822191" cy="502920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45643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2185B"/>
                </a:solidFill>
                <a:latin typeface="맑은 고딕"/>
              </a:rPr>
              <a:t>구조 이슈 (6)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456431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① 페이지 1 = 이전 회차의 60번 문항 (스킵 필요)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② 페이지 2 끝 "10문항 / 19문항 / 1문항" 노이즈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③ 페이지 헤더 (232 전기기능사 필기 기본서) 매 페이지 섞임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④ 페이지 18 끝 "1회독(20문항)" 정답수 영역 노이즈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⑤ 카테고리 헤더(전기이론/기기/설비) 문항 사이 흩어짐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⑥ 모든 문항 끝 태그가 [전기이론]으로 잘못 표기 (마스터 오류)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371600"/>
            <a:ext cx="3822191" cy="5029200"/>
          </a:xfrm>
          <a:prstGeom prst="rect">
            <a:avLst/>
          </a:prstGeom>
          <a:solidFill>
            <a:srgbClr val="FFF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554480"/>
            <a:ext cx="345643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2185B"/>
                </a:solidFill>
                <a:latin typeface="맑은 고딕"/>
              </a:rPr>
              <a:t>텍스트 이슈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057400"/>
            <a:ext cx="3456431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⑦ 수식·공식 보기가 통째로 빈 줄로 (벡터 미임베딩)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⑧ 해설 본문 변수 글자 빠짐 — "정전용량()은 넓이()에 비례"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⑨ 한글 자모 공백 분리 — "①기 본 파", "④ 미 관 상  좋 다"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⑩ 단위 표기 공백 — "kV A" → "kVA"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⑪ 정답 인코딩 ➊➋➌➍ → 1·2·3·4 변환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371600"/>
            <a:ext cx="3822191" cy="5029200"/>
          </a:xfrm>
          <a:prstGeom prst="rect">
            <a:avLst/>
          </a:prstGeom>
          <a:solidFill>
            <a:srgbClr val="E0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554480"/>
            <a:ext cx="3456431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2185B"/>
                </a:solidFill>
                <a:latin typeface="맑은 고딕"/>
              </a:rPr>
              <a:t>시각 / 파싱 이슈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057400"/>
            <a:ext cx="3456431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⑫ 그림 문항 (51번 그림기호, 39번 TRIAC 심볼) — 텍스트 추출 불가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⑬ 표 (23·30·43·53번) — 셀 경계 깨짐, 수동 재입력 필요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⑭ 빈칸문제 (9번) — 발문 안의 ( ① )과 보기 ①②③④ 충돌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맑은 고딕"/>
              </a:rPr>
              <a:t>⑮ 보기가 한 줄에 2개씩 vs 별도 줄 — 일관성 없음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4. 자동 변환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PDF 텍스트 추출 → 파싱 → 보완 → 엑셀 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194560" cy="22860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2185B"/>
                </a:solidFill>
                <a:latin typeface="맑은 고딕"/>
              </a:rPr>
              <a:t>1. PDF 추출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pypdf로
페이지별
텍스트 추출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9463" y="2697480"/>
            <a:ext cx="146304" cy="36576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24912" y="1737360"/>
            <a:ext cx="2194560" cy="228600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1874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2185B"/>
                </a:solidFill>
                <a:latin typeface="맑은 고딕"/>
              </a:rPr>
              <a:t>2. 노이즈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42316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헤더/푸터/
정답수 영역
정규식 필터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28616" y="2697480"/>
            <a:ext cx="146304" cy="36576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737360"/>
            <a:ext cx="2194560" cy="2286000"/>
          </a:xfrm>
          <a:prstGeom prst="rect">
            <a:avLst/>
          </a:prstGeom>
          <a:solidFill>
            <a:srgbClr val="FFF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1874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2185B"/>
                </a:solidFill>
                <a:latin typeface="맑은 고딕"/>
              </a:rPr>
              <a:t>3. 문항 단위 파싱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42316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문항번호 →
발문 / 보기 /
해설 / 오답분석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87768" y="2697480"/>
            <a:ext cx="146304" cy="36576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43216" y="1737360"/>
            <a:ext cx="2194560" cy="2286000"/>
          </a:xfrm>
          <a:prstGeom prst="rect">
            <a:avLst/>
          </a:prstGeom>
          <a:solidFill>
            <a:srgbClr val="E8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1874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2185B"/>
                </a:solidFill>
                <a:latin typeface="맑은 고딕"/>
              </a:rPr>
              <a:t>4. 자동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242316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자모 공백,
학습 POINT 분리,
그림 마커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46919" y="2697480"/>
            <a:ext cx="146304" cy="36576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02368" y="1737360"/>
            <a:ext cx="2194560" cy="2286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1874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2185B"/>
                </a:solidFill>
                <a:latin typeface="맑은 고딕"/>
              </a:rPr>
              <a:t>5. 수동 보완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42316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manual_fixes
.py로 수식·표
HTML 덮어쓰기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11430000" cy="2011680"/>
          </a:xfrm>
          <a:prstGeom prst="rect">
            <a:avLst/>
          </a:prstGeom>
          <a:solidFill>
            <a:srgbClr val="FAFAFA"/>
          </a:solidFill>
          <a:ln>
            <a:solidFill>
              <a:srgbClr val="757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맑은 고딕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• 60문항 100% 파싱 (theory 20 / machinery 20 / facility 20)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• 자동 정상 변환 59건 (98%) · 수식·표 수동 보완 59건 적용 후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• 학습 POINT 60문항 모두 보유 (자동 분리 14 + 수동 채움 47)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• 남은 1건: 9번 빈칸문제 노트 (데이터는 정상, 구조 표시만)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5. 수식 HTML 변환 예시 — 01번 콘덴서 정전용량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PDF 원본 → 추출 텍스트 → 수동 보완 HTML</a:t>
            </a:r>
          </a:p>
        </p:txBody>
      </p:sp>
      <p:pic>
        <p:nvPicPr>
          <p:cNvPr id="5" name="Picture 4" descr="p02_q01_콘덴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2976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63640"/>
            <a:ext cx="4297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맑은 고딕"/>
              </a:rPr>
              <a:t>원본 PDF (page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566160" cy="4846320"/>
          </a:xfrm>
          <a:prstGeom prst="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5087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65A00"/>
                </a:solidFill>
                <a:latin typeface="맑은 고딕"/>
              </a:rPr>
              <a:t>pypdf 추출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920240"/>
            <a:ext cx="329184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"정전용량([수식])은 극판의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넓이([수식])에 비례하고 극판의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간격([수식])에 반비례한다."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→ 변수 C, S, d 가 빠짐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   ([수식] 마커로 표시)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"오답분석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 ① [수식] 관계에 의해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   전압에 반비례한다."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→ Q=CV 같은 식 누락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371600"/>
            <a:ext cx="3383280" cy="4846320"/>
          </a:xfrm>
          <a:prstGeom prst="rect">
            <a:avLst/>
          </a:prstGeom>
          <a:solidFill>
            <a:srgbClr val="E8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5087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수동 보완 (HTML)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920240"/>
            <a:ext cx="310896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【해설】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정전용량(&lt;i&gt;C&lt;/i&gt;)은 극판의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넓이(&lt;i&gt;S&lt;/i&gt;)에 비례하고…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【학습 POINT】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&lt;p&gt;&lt;strong&gt;정전용량 공식&lt;/strong&gt;&lt;/p&gt;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&lt;p&gt;&lt;i&gt;C&lt;/i&gt; = &lt;i&gt;εS&lt;/i&gt; / &lt;i&gt;d&lt;/i&gt; [F]&lt;/p&gt;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&lt;ul&gt;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  &lt;li&gt;&lt;i&gt;C&lt;/i&gt;: 정전용량[F]&lt;/li&gt;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  &lt;li&gt;&lt;i&gt;ε&lt;/i&gt;: 유전율[F/m]&lt;/li&gt;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  &lt;li&gt;&lt;i&gt;S&lt;/i&gt;: 극판 단면적[m²]&lt;/li&gt;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  &lt;li&gt;&lt;i&gt;d&lt;/i&gt;: 극판 간격[m]&lt;/li&gt;</a:t>
            </a:r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&lt;/ul&gt;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6. 표 → HTML 표 변환 — 23번 동기전동기 반작용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PDF의 표는 셀 경계 깨짐 · HTML &lt;table&gt;로 재구성</a:t>
            </a:r>
          </a:p>
        </p:txBody>
      </p:sp>
      <p:pic>
        <p:nvPicPr>
          <p:cNvPr id="5" name="Picture 4" descr="p08_q23_반작용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486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맑은 고딕"/>
              </a:rPr>
              <a:t>원본 PDF (page 8) — 표 두 개 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5852160" cy="1280160"/>
          </a:xfrm>
          <a:prstGeom prst="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6304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65A00"/>
                </a:solidFill>
                <a:latin typeface="맑은 고딕"/>
              </a:rPr>
              <a:t>⚠️ 추출 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5577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"전류 위상 부하 성분 작용 명칭 현상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 동상 저항(R) 교차 자화 작용 …"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→ 셀 경계 사라지고 줄바꿈 깨짐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788920"/>
            <a:ext cx="5852160" cy="3703320"/>
          </a:xfrm>
          <a:prstGeom prst="rect">
            <a:avLst/>
          </a:prstGeom>
          <a:solidFill>
            <a:srgbClr val="E8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88036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맑은 고딕"/>
              </a:rPr>
              <a:t>✓ HTML &lt;table&gt; 재구성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3291840"/>
          <a:ext cx="5577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전류 위상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동기 발전기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동기 전동기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지상 (L, 뒤진)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감자 작용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증자 작용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진상 (C, 앞선)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증자 작용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감자 작용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동상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교차 자화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교차 자화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7. 그림 필요 위치 — 컬럼에 [필요: …] 마커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텍스트로 추출 불가능한 그림은 위치를 명시해서 수동 등록 유도</a:t>
            </a:r>
          </a:p>
        </p:txBody>
      </p:sp>
      <p:pic>
        <p:nvPicPr>
          <p:cNvPr id="5" name="Picture 4" descr="p16_q51_그림기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486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맑은 고딕"/>
              </a:rPr>
              <a:t>원본 PDF (page 16) — 51번 그림기호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5852160" cy="50292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50876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196F3"/>
                </a:solidFill>
                <a:latin typeface="맑은 고딕"/>
              </a:rPr>
              <a:t>엑셀 51번 행 (발췌)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20240"/>
            <a:ext cx="557784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발문    │ "아래 그림기호가 나타내는 것은?"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발문그림 │ [필요: 기호심볼 — 수동조작 접점] ⚠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보기1   │ "한시 계전기 접점"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보기2   │ "전자 접속기 접점"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보기3   │ "수동 조작 접점"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보기4   │ "조작 개폐기 잔류 접점"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정답    │ 3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학습포인트 │ &lt;table&gt;접점 기호 분류 표&lt;/table&gt;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─────────────────────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운영자: 마커 보고 그림 파일 업로드 → 파일명 교체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예) 발문그림 = q51_manual_contact.png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8. 학습 POINT 자동 분리 로직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해설 본문 안의 "공식 / 법칙 / 특징" 헤더 패턴으로 자동 분리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93776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2185B"/>
                </a:solidFill>
                <a:latin typeface="맑은 고딕"/>
              </a:rPr>
              <a:t>분리 전 — 해설 한 덩어리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93776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전기분해를 통해 석출된 물질의 양은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통과한 전기량 및 화학당량에 각각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비례한다.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────────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【여기서부터 학습 POINT 영역】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패러데이의 법칙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 W = kIt [g]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 • W: 석출된 물질의 양[g]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 • k: 전기 화학 당량[g/C]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Consolas"/>
              </a:rPr>
              <a:t> • I: 전류[A]  • t: 시간[s]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3657600"/>
            <a:ext cx="457200" cy="457200"/>
          </a:xfrm>
          <a:prstGeom prst="rightArrow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5120640" cy="2286000"/>
          </a:xfrm>
          <a:prstGeom prst="rect">
            <a:avLst/>
          </a:prstGeom>
          <a:solidFill>
            <a:srgbClr val="E8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002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해설 컬럼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7548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전기분해를 통해 석출된 물질의 양은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통과한 전기량 및 화학당량에 각각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비례한다.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931920"/>
            <a:ext cx="5120640" cy="246888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0690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2185B"/>
                </a:solidFill>
                <a:latin typeface="맑은 고딕"/>
              </a:rPr>
              <a:t>학습포인트 컬럼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572000"/>
            <a:ext cx="47548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&lt;p&gt;&lt;strong&gt;패러데이의 법칙&lt;/strong&gt;&lt;/p&gt;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&lt;p&gt;&lt;i&gt;W&lt;/i&gt; = &lt;i&gt;kIt&lt;/i&gt; [g]&lt;/p&gt;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&lt;ul&gt;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  &lt;li&gt;W: 석출량[g] · k: 화학당량[g/C]&lt;/li&gt;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  &lt;li&gt;I: 전류[A]  · t: 시간[s]&lt;/li&gt;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onsolas"/>
              </a:rPr>
              <a:t>&lt;/ul&gt;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9. 최종 통계 — 60문항 변환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데이터 / 보완 / 이슈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743200" cy="2377440"/>
          </a:xfrm>
          <a:prstGeom prst="rect">
            <a:avLst/>
          </a:prstGeom>
          <a:solidFill>
            <a:srgbClr val="FAFAFA"/>
          </a:solidFill>
          <a:ln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0" b="1">
                <a:solidFill>
                  <a:srgbClr val="212121"/>
                </a:solidFill>
                <a:latin typeface="맑은 고딕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맑은 고딕"/>
              </a:rPr>
              <a:t>총 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맑은 고딕"/>
              </a:rPr>
              <a:t>이론 20 / 기기 20 / 설비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743200" cy="2377440"/>
          </a:xfrm>
          <a:prstGeom prst="rect">
            <a:avLst/>
          </a:prstGeom>
          <a:solidFill>
            <a:srgbClr val="FAFAFA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78308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0" b="1">
                <a:solidFill>
                  <a:srgbClr val="2E7D32"/>
                </a:solidFill>
                <a:latin typeface="맑은 고딕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1089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맑은 고딕"/>
              </a:rPr>
              <a:t>자동 정상 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5204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맑은 고딕"/>
              </a:rPr>
              <a:t>이슈 없이 그대로 사용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743200" cy="2377440"/>
          </a:xfrm>
          <a:prstGeom prst="rect">
            <a:avLst/>
          </a:prstGeom>
          <a:solidFill>
            <a:srgbClr val="FAFAFA"/>
          </a:solidFill>
          <a:ln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0" b="1">
                <a:solidFill>
                  <a:srgbClr val="C2185B"/>
                </a:solidFill>
                <a:latin typeface="맑은 고딕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089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맑은 고딕"/>
              </a:rPr>
              <a:t>학습 POINT 보유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204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맑은 고딕"/>
              </a:rPr>
              <a:t>자동 분리 14 + 수동 보완 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743200" cy="2377440"/>
          </a:xfrm>
          <a:prstGeom prst="rect">
            <a:avLst/>
          </a:prstGeom>
          <a:solidFill>
            <a:srgbClr val="FAFAFA"/>
          </a:solidFill>
          <a:ln>
            <a:solidFill>
              <a:srgbClr val="E6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78308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200" b="1">
                <a:solidFill>
                  <a:srgbClr val="E65A00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089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맑은 고딕"/>
              </a:rPr>
              <a:t>잔여 이슈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5204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맑은 고딕"/>
              </a:rPr>
              <a:t>9번 빈칸문제 노트만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C2185B"/>
                </a:solidFill>
                <a:latin typeface="맑은 고딕"/>
              </a:rPr>
              <a:t>카테고리별 보완 작업 누계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4846320"/>
          <a:ext cx="10881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6583680"/>
              </a:tblGrid>
              <a:tr h="289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대상 문항</a:t>
                      </a:r>
                    </a:p>
                  </a:txBody>
                  <a:tcPr>
                    <a:solidFill>
                      <a:srgbClr val="C2185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수식 →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약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1·2·5·6·7·9·11·13·15·19 외 다수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표 → HTML 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약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3·8·17·23·26·29·30·32·43·47·50·53·54·58·59·60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그림 마커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39번 TRIAC 심볼 / 51번 수동조작 접점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PDF 오류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55번 정답 태그 누락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추정값 (확인 필요)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7·13·22·32·36·48번 (수치 PUA 손상)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10. 남은 한계와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맑은 고딕"/>
              </a:rPr>
              <a:t>오늘까지의 결과 / 팀에서 이어받을 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E65A00"/>
                </a:solidFill>
                <a:latin typeface="맑은 고딕"/>
              </a:rPr>
              <a:t>⚠️ 자동화의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1. PDF 폰트 PUA 영역 글자 (수식)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 pypdf 추출 불가 — [수식] 마커로 명시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2. 추정값 6문항 (7·13·22·32·36·48)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 원본 수치값 확인 후 manual_fixes 수정 필요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 &lt;em&gt; 태그로 "원본 확인 필요" 표시됨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3. 그림 (39·51번)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 실제 그림 파일 업로드 + 컬럼 채움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4. 9번 빈칸문제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 구조 자체가 ( ① ) ( ② ) 빈칸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 UI에서 별도 렌더링 처리 검토 필요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5. PDF 마스터 데이터 오류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 모든 문항이 [전기이론] 태그 — 페이지 헤더로 보정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E8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맑은 고딕"/>
              </a:rPr>
              <a:t>✓ 다음 단계 (인수인계)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A. 다른 회차 PDF 적용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convert_2022_1.py를 회차별로 복제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→ 페이지 번호 / 카테고리 라인만 조정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B. manual_fixes.py 재사용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학습 POINT·표 HTML이 이미 패턴화됨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새 회차에도 30~50% 그대로 적용 가능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C. 업로드 UI 만들기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엑셀 → DB / JSON 변환 임포터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HTML 태그 sanitize (XSS 차단)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D. CBT 렌더링 검증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&lt;table&gt;, &lt;sub&gt;, &lt;sup&gt;, &lt;i&gt;, &lt;ol&gt;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모바일·태블릿 양쪽에서 깨지지 않는지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E. 추정값 6문항 원본 확인</a:t>
            </a:r>
          </a:p>
          <a:p>
            <a:pPr algn="l"/>
            <a:r>
              <a:rPr sz="1200" b="0">
                <a:solidFill>
                  <a:srgbClr val="212121"/>
                </a:solidFill>
                <a:latin typeface="맑은 고딕"/>
              </a:rPr>
              <a:t>   책 보면서 manual_fixes 정확값 입력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