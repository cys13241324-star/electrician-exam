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212121"/>
                </a:solidFill>
                <a:latin typeface="맑은 고딕"/>
              </a:rPr>
              <a:t>PDF ↔ 엑셀 컬럼 매핑 명세서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757575"/>
                </a:solidFill>
                <a:latin typeface="맑은 고딕"/>
              </a:rPr>
              <a:t>개발자용 — 파서 / 임포터 구현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맑은 고딕"/>
              </a:rPr>
              <a:t>· 어떤 PDF 영역이 어떤 엑셀 컬럼으로 매핑되는가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맑은 고딕"/>
              </a:rPr>
              <a:t>· 각 영역의 시작·끝 경계 식별 규칙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맑은 고딕"/>
              </a:rPr>
              <a:t>· 텍스트 추출 후 후처리 / 정규식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맑은 고딕"/>
              </a:rPr>
              <a:t>· 엣지 케이스 (그림 / 표 / 빈칸문제 / 수식 손상)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맑은 고딕"/>
              </a:rPr>
              <a:t>기준 데이터: 2022년 1회 (60문항)  ·  v2 양식 (17 콘텐츠 컬럼)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맑은 고딕"/>
              </a:rPr>
              <a:t>1. 매핑 한눈에 — 01번 콘덴서 (전체 영역 정상 케이스)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  <a:latin typeface="맑은 고딕"/>
              </a:rPr>
              <a:t>PDF 한 문항 = 엑셀 한 행. 컬러별로 어느 영역이 어느 컬럼인지</a:t>
            </a:r>
          </a:p>
        </p:txBody>
      </p:sp>
      <p:pic>
        <p:nvPicPr>
          <p:cNvPr id="5" name="Picture 4" descr="mapping_p02_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217842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8370" y="137160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91E63"/>
                </a:solidFill>
                <a:latin typeface="맑은 고딕"/>
              </a:rPr>
              <a:t>엑셀 컬럼 매핑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8370" y="1828800"/>
            <a:ext cx="228600" cy="292608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28410" y="181051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카테고리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2930" y="18288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→ 과목ID (theory/machinery/facility)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8370" y="2240280"/>
            <a:ext cx="228600" cy="29260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8410" y="222199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문항번호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930" y="2240280"/>
            <a:ext cx="24688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번호</a:t>
            </a:r>
            <a:r>
              <a:rPr lang="en-US" sz="1200" b="0" dirty="0">
                <a:solidFill>
                  <a:srgbClr val="212121"/>
                </a:solidFill>
                <a:latin typeface="맑은 고딕"/>
              </a:rPr>
              <a:t>(</a:t>
            </a:r>
            <a:r>
              <a:rPr lang="ko-KR" altLang="en-US" sz="1200" b="0" dirty="0">
                <a:solidFill>
                  <a:srgbClr val="212121"/>
                </a:solidFill>
                <a:latin typeface="맑은 고딕"/>
              </a:rPr>
              <a:t>실제 사용 </a:t>
            </a:r>
            <a:r>
              <a:rPr lang="en-US" altLang="ko-KR" sz="1200" b="0" dirty="0">
                <a:solidFill>
                  <a:srgbClr val="212121"/>
                </a:solidFill>
                <a:latin typeface="맑은 고딕"/>
              </a:rPr>
              <a:t>X, </a:t>
            </a:r>
            <a:r>
              <a:rPr lang="ko-KR" altLang="en-US" sz="1200" b="0" dirty="0">
                <a:solidFill>
                  <a:srgbClr val="212121"/>
                </a:solidFill>
                <a:latin typeface="맑은 고딕"/>
              </a:rPr>
              <a:t>관리용</a:t>
            </a:r>
            <a:r>
              <a:rPr lang="en-US" altLang="ko-KR" sz="1200" b="0" dirty="0">
                <a:solidFill>
                  <a:srgbClr val="212121"/>
                </a:solidFill>
                <a:latin typeface="맑은 고딕"/>
              </a:rPr>
              <a:t>)</a:t>
            </a:r>
            <a:endParaRPr sz="1200" b="0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08370" y="2651760"/>
            <a:ext cx="228600" cy="292608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8410" y="263347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발문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930" y="26517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발문</a:t>
            </a:r>
            <a:r>
              <a:rPr sz="1200" b="0" dirty="0">
                <a:solidFill>
                  <a:srgbClr val="212121"/>
                </a:solidFill>
                <a:latin typeface="맑은 고딕"/>
              </a:rPr>
              <a:t> (HTML)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8370" y="3063240"/>
            <a:ext cx="228600" cy="29260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8410" y="304495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보기①~④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929" y="3063240"/>
            <a:ext cx="26841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212121"/>
                </a:solidFill>
                <a:latin typeface="맑은 고딕"/>
              </a:rPr>
              <a:t>→ 보기1·2·3·4 (HTML)</a:t>
            </a:r>
            <a:r>
              <a:rPr lang="en-US" sz="1200" b="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sz="1200" dirty="0">
                <a:solidFill>
                  <a:srgbClr val="212121"/>
                </a:solidFill>
                <a:latin typeface="맑은 고딕"/>
              </a:rPr>
              <a:t>/ 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그림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: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PNG</a:t>
            </a:r>
            <a:endParaRPr lang="en-US" sz="1200" b="0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08370" y="3474720"/>
            <a:ext cx="228600" cy="292608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8410" y="345643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해설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930" y="3474720"/>
            <a:ext cx="24688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해설</a:t>
            </a:r>
            <a:r>
              <a:rPr sz="1200" b="0" dirty="0">
                <a:solidFill>
                  <a:srgbClr val="212121"/>
                </a:solidFill>
                <a:latin typeface="맑은 고딕"/>
              </a:rPr>
              <a:t> (HTML)</a:t>
            </a:r>
            <a:r>
              <a:rPr lang="en-US" sz="1200" b="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/ 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그림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: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PNG</a:t>
            </a:r>
            <a:endParaRPr sz="1200" b="0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08370" y="3886200"/>
            <a:ext cx="22860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8410" y="386791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학습 POINT 박스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930" y="3886200"/>
            <a:ext cx="341757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학습포인트</a:t>
            </a:r>
            <a:r>
              <a:rPr sz="1200" b="0" dirty="0">
                <a:solidFill>
                  <a:srgbClr val="212121"/>
                </a:solidFill>
                <a:latin typeface="맑은 고딕"/>
              </a:rPr>
              <a:t> (HTML)</a:t>
            </a:r>
            <a:r>
              <a:rPr lang="en-US" sz="1200" b="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/ 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그림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: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PNG</a:t>
            </a:r>
            <a:endParaRPr sz="1200" b="0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08370" y="4297680"/>
            <a:ext cx="228600" cy="292608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8410" y="427939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오답분석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930" y="4297680"/>
            <a:ext cx="24688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오답분석</a:t>
            </a:r>
            <a:r>
              <a:rPr sz="1200" b="0" dirty="0">
                <a:solidFill>
                  <a:srgbClr val="212121"/>
                </a:solidFill>
                <a:latin typeface="맑은 고딕"/>
              </a:rPr>
              <a:t> (HTML</a:t>
            </a:r>
            <a:r>
              <a:rPr lang="en-US" sz="1200" b="0" dirty="0">
                <a:solidFill>
                  <a:srgbClr val="212121"/>
                </a:solidFill>
                <a:latin typeface="맑은 고딕"/>
              </a:rPr>
              <a:t>) / 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그림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:</a:t>
            </a:r>
            <a:r>
              <a:rPr lang="ko-KR" altLang="en-US" sz="1200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맑은 고딕"/>
              </a:rPr>
              <a:t>PNG</a:t>
            </a:r>
            <a:endParaRPr sz="1200" b="0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08370" y="4709160"/>
            <a:ext cx="228600" cy="29260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8410" y="469087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맑은 고딕"/>
              </a:rPr>
              <a:t>정답 (➊➋➌➍)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930" y="47091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212121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정답</a:t>
            </a:r>
            <a:r>
              <a:rPr sz="1200" b="0" dirty="0">
                <a:solidFill>
                  <a:srgbClr val="212121"/>
                </a:solidFill>
                <a:latin typeface="맑은 고딕"/>
              </a:rPr>
              <a:t>(1~4) — </a:t>
            </a:r>
            <a:r>
              <a:rPr sz="1200" b="0" dirty="0" err="1">
                <a:solidFill>
                  <a:srgbClr val="212121"/>
                </a:solidFill>
                <a:latin typeface="맑은 고딕"/>
              </a:rPr>
              <a:t>숫자</a:t>
            </a:r>
            <a:endParaRPr sz="1200" b="0" dirty="0">
              <a:solidFill>
                <a:srgbClr val="212121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212121"/>
                </a:solidFill>
                <a:latin typeface="맑은 고딕"/>
              </a:rPr>
              <a:t>2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추출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경계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규칙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— 한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문항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안에서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영역을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212121"/>
                </a:solidFill>
                <a:latin typeface="맑은 고딕"/>
              </a:rPr>
              <a:t>어떻게</a:t>
            </a:r>
            <a:r>
              <a:rPr sz="2600" b="1" dirty="0">
                <a:solidFill>
                  <a:srgbClr val="212121"/>
                </a:solidFill>
                <a:latin typeface="맑은 고딕"/>
              </a:rPr>
              <a:t> </a:t>
            </a:r>
            <a:r>
              <a:rPr lang="ko-KR" altLang="en-US" sz="2600" b="1" dirty="0">
                <a:solidFill>
                  <a:srgbClr val="212121"/>
                </a:solidFill>
                <a:latin typeface="맑은 고딕"/>
              </a:rPr>
              <a:t>구분하는가</a:t>
            </a:r>
            <a:endParaRPr sz="2600" b="1" dirty="0">
              <a:solidFill>
                <a:srgbClr val="212121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  <a:latin typeface="맑은 고딕"/>
              </a:rPr>
              <a:t>문항번호 → 발문 → 보기 → 해설(+학습포인트) → 오답분석 → 끝 태그 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828800" cy="50292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35608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1. 문항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68580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 err="1">
                <a:solidFill>
                  <a:srgbClr val="212121"/>
                </a:solidFill>
                <a:latin typeface="Consolas"/>
              </a:rPr>
              <a:t>문항번호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단독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라</a:t>
            </a:r>
            <a:r>
              <a:rPr lang="ko-KR" altLang="en-US" sz="1100" b="0" dirty="0">
                <a:solidFill>
                  <a:srgbClr val="212121"/>
                </a:solidFill>
                <a:latin typeface="Consolas"/>
              </a:rPr>
              <a:t>인</a:t>
            </a:r>
            <a:r>
              <a:rPr lang="en-US" altLang="ko-KR" sz="1100" b="0" dirty="0">
                <a:solidFill>
                  <a:srgbClr val="212121"/>
                </a:solidFill>
                <a:latin typeface="Consolas"/>
              </a:rPr>
              <a:t>(</a:t>
            </a:r>
            <a:r>
              <a:rPr lang="ko-KR" altLang="en-US" sz="1100" b="0" dirty="0">
                <a:solidFill>
                  <a:srgbClr val="212121"/>
                </a:solidFill>
                <a:latin typeface="Consolas"/>
              </a:rPr>
              <a:t>코드번호 순</a:t>
            </a:r>
            <a:r>
              <a:rPr lang="en-US" altLang="ko-KR" sz="1100" b="0" dirty="0">
                <a:solidFill>
                  <a:srgbClr val="212121"/>
                </a:solidFill>
                <a:latin typeface="Consolas"/>
              </a:rPr>
              <a:t>)</a:t>
            </a:r>
            <a:endParaRPr sz="1100" b="0" dirty="0">
              <a:solidFill>
                <a:srgbClr val="212121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1417320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55A64"/>
                </a:solidFill>
                <a:latin typeface="맑은 고딕"/>
              </a:rPr>
              <a:t>→ "01", "02", …, "60"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1828800" cy="502920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02536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2. 발문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84248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문항번호 직후 ~ 첫 ① 직전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84248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91E63"/>
                </a:solidFill>
                <a:latin typeface="맑은 고딕"/>
              </a:rPr>
              <a:t>→ 발문 텍스트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05456"/>
            <a:ext cx="1828800" cy="5029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69464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3. 발문그림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51176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발문에 "그림" 키워드 + 발문~보기 사이 공백 영역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551176"/>
            <a:ext cx="256032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dirty="0">
                <a:solidFill>
                  <a:srgbClr val="FFC107"/>
                </a:solidFill>
                <a:latin typeface="맑은 고딕"/>
              </a:rPr>
              <a:t>→ </a:t>
            </a:r>
            <a:r>
              <a:rPr lang="ko-KR" altLang="en-US" sz="1100" b="1" dirty="0">
                <a:solidFill>
                  <a:srgbClr val="FFC107"/>
                </a:solidFill>
                <a:latin typeface="맑은 고딕"/>
              </a:rPr>
              <a:t>그림 </a:t>
            </a:r>
            <a:r>
              <a:rPr sz="1100" b="1" dirty="0" err="1">
                <a:solidFill>
                  <a:srgbClr val="FFC107"/>
                </a:solidFill>
                <a:latin typeface="맑은 고딕"/>
              </a:rPr>
              <a:t>삽입</a:t>
            </a:r>
            <a:endParaRPr sz="1100" b="1" dirty="0">
              <a:solidFill>
                <a:srgbClr val="FFC107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1828800" cy="50292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13639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4. 보기 ①~④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18104"/>
            <a:ext cx="68580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212121"/>
                </a:solidFill>
                <a:latin typeface="+mj-lt"/>
              </a:rPr>
              <a:t>①</a:t>
            </a:r>
            <a:r>
              <a:rPr lang="en-US" sz="1100" b="0" dirty="0">
                <a:solidFill>
                  <a:srgbClr val="212121"/>
                </a:solidFill>
                <a:latin typeface="+mj-lt"/>
              </a:rPr>
              <a:t>, </a:t>
            </a:r>
            <a:r>
              <a:rPr sz="1100" b="0" dirty="0">
                <a:solidFill>
                  <a:srgbClr val="212121"/>
                </a:solidFill>
                <a:latin typeface="+mj-lt"/>
              </a:rPr>
              <a:t>②</a:t>
            </a:r>
            <a:r>
              <a:rPr lang="en-US" sz="1100" b="0" dirty="0">
                <a:solidFill>
                  <a:srgbClr val="212121"/>
                </a:solidFill>
                <a:latin typeface="+mj-lt"/>
              </a:rPr>
              <a:t>, </a:t>
            </a:r>
            <a:r>
              <a:rPr sz="1100" b="0" dirty="0">
                <a:solidFill>
                  <a:srgbClr val="212121"/>
                </a:solidFill>
                <a:latin typeface="+mj-lt"/>
              </a:rPr>
              <a:t>③</a:t>
            </a:r>
            <a:r>
              <a:rPr lang="en-US" sz="1100" b="0" dirty="0">
                <a:solidFill>
                  <a:srgbClr val="212121"/>
                </a:solidFill>
                <a:latin typeface="+mj-lt"/>
              </a:rPr>
              <a:t>, </a:t>
            </a:r>
            <a:r>
              <a:rPr sz="1100" b="0" dirty="0">
                <a:solidFill>
                  <a:srgbClr val="212121"/>
                </a:solidFill>
                <a:latin typeface="+mj-lt"/>
              </a:rPr>
              <a:t>④</a:t>
            </a:r>
            <a:r>
              <a:rPr lang="en-US" sz="1100" b="0" dirty="0">
                <a:solidFill>
                  <a:srgbClr val="212121"/>
                </a:solidFill>
                <a:latin typeface="+mj-lt"/>
              </a:rPr>
              <a:t> </a:t>
            </a:r>
            <a:r>
              <a:rPr lang="ko-KR" altLang="en-US" sz="1100" b="0" dirty="0">
                <a:solidFill>
                  <a:srgbClr val="212121"/>
                </a:solidFill>
                <a:latin typeface="+mj-lt"/>
              </a:rPr>
              <a:t>보기 영역</a:t>
            </a:r>
            <a:endParaRPr sz="1100" b="0" dirty="0">
              <a:solidFill>
                <a:srgbClr val="212121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20" y="3118104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  <a:latin typeface="맑은 고딕"/>
              </a:rPr>
              <a:t>→ 보기1~4 텍스트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9312"/>
            <a:ext cx="1828800" cy="5029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033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5. 해설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685032"/>
            <a:ext cx="68580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Consolas"/>
              </a:rPr>
              <a:t>보기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lang="ko-KR" altLang="en-US" sz="1100" dirty="0">
                <a:solidFill>
                  <a:srgbClr val="212121"/>
                </a:solidFill>
              </a:rPr>
              <a:t>④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끝 +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공백라인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이후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~ "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오답분석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"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또는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"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공식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/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법칙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"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헤더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직전</a:t>
            </a:r>
            <a:endParaRPr sz="1100" b="0" dirty="0">
              <a:solidFill>
                <a:srgbClr val="212121"/>
              </a:solidFill>
              <a:latin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8320" y="368503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F6F00"/>
                </a:solidFill>
                <a:latin typeface="맑은 고딕"/>
              </a:rPr>
              <a:t>→ 해설 텍스트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18288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270248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6. 학습포인트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251960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 err="1">
                <a:solidFill>
                  <a:srgbClr val="212121"/>
                </a:solidFill>
                <a:latin typeface="Consolas"/>
              </a:rPr>
              <a:t>해설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안의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"OO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공식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/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법칙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/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특징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/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분류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/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관계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"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헤더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라인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~ 끝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태그</a:t>
            </a:r>
            <a:r>
              <a:rPr sz="1100" b="0" dirty="0">
                <a:solidFill>
                  <a:srgbClr val="212121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Consolas"/>
              </a:rPr>
              <a:t>직전</a:t>
            </a:r>
            <a:endParaRPr sz="1100" b="0" dirty="0">
              <a:solidFill>
                <a:srgbClr val="212121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18320" y="4251960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맑은 고딕"/>
              </a:rPr>
              <a:t>→ 학습포인트 (HTML 표 포함)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73168"/>
            <a:ext cx="1828800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837176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7. 오답분석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818888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"오답분석" 라인 ~ 끝 태그 직전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818888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B1FA2"/>
                </a:solidFill>
                <a:latin typeface="맑은 고딕"/>
              </a:rPr>
              <a:t>→ 오답분석 (HTML &lt;ol&gt;)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40096"/>
            <a:ext cx="1828800" cy="50292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404104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8. 정답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385816"/>
            <a:ext cx="68580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212121"/>
                </a:solidFill>
                <a:latin typeface="Consolas"/>
              </a:rPr>
              <a:t>➊➋➌➍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385816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897B"/>
                </a:solidFill>
                <a:latin typeface="맑은 고딕"/>
              </a:rPr>
              <a:t>→ ➊➋➌➍ → 1·2·3·4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363</Words>
  <Application>Microsoft Office PowerPoint</Application>
  <PresentationFormat>와이드스크린</PresentationFormat>
  <Paragraphs>52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5</cp:revision>
  <dcterms:created xsi:type="dcterms:W3CDTF">2013-01-27T09:14:16Z</dcterms:created>
  <dcterms:modified xsi:type="dcterms:W3CDTF">2026-05-18T01:40:27Z</dcterms:modified>
  <cp:category/>
</cp:coreProperties>
</file>