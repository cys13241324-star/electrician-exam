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457200" cy="5486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1F2937"/>
                </a:solidFill>
                <a:latin typeface="맑은 고딕"/>
              </a:rPr>
              <a:t>엑셀 v3 양식 ↔ 등록 페이지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맑은 고딕"/>
              </a:rPr>
              <a:t>같은 데이터 모델 / 양방향 변환 / 블록 시퀀스 직렬화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엑셀 한 행 = 등록 페이지 한 화면 = 시험 한 문항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영역별 컬러 그룹화 — 출처 / 코드 / 분류 / 속성 / 콘텐츠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해설·학습 POINT는 텍스트+그림 블록 자유 배치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xlsx ↔ JSON 양방향 변환 검증 완료 (왕복 일치 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1. 전체 워크플로 — 엑셀 ↔ 등록 페이지 ↔ 시험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 모델을 세 곳에서 공유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📊  엑셀 v3 양식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data/templates/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question-template-v3.xlsx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- 31컬럼, 그룹 헤더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영역별 컬러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드롭다운 검증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배치 등록용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🖊  등록 페이지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src/app/admin/register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/admin/register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실시간 미리보기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HTML 입력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블록 시퀀스 UI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단일 문항 등록용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📝  시험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(향후 구현)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문항코드 순 정렬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회차/연도 필터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빈출도/난이도 필터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동일 데이터 모델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학습자에게 표시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412394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-Right Arrow 17"/>
          <p:cNvSpPr/>
          <p:nvPr/>
        </p:nvSpPr>
        <p:spPr>
          <a:xfrm>
            <a:off x="791870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🔄 양방향 변환: tools/question_io.py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python tools/question_io.py xlsx2json input.xlsx output.json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python tools/question_io.py json2xlsx input.json output.xlsx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2. 엑셀 v3 양식 — 31컬럼 한눈에 (영역별 그룹 헤더)</a:t>
            </a:r>
          </a:p>
        </p:txBody>
      </p:sp>
      <p:pic>
        <p:nvPicPr>
          <p:cNvPr id="5" name="Picture 4" descr="xlsx_question-template-v3-new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" y="1143000"/>
            <a:ext cx="11612880" cy="82099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5285" y="3674745"/>
            <a:ext cx="137160" cy="2926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45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출처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시험 출신 (회차)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7004" y="3674745"/>
            <a:ext cx="13716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817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코드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정렬·식별 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725" y="3674745"/>
            <a:ext cx="13716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89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분류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카테고리 (세로축)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444" y="3674745"/>
            <a:ext cx="137160" cy="2926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61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속성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 메타 (가로축)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2165" y="3674745"/>
            <a:ext cx="137160" cy="29260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333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발문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문제 본문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285" y="4040505"/>
            <a:ext cx="13716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45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보기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4지선다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7004" y="4040505"/>
            <a:ext cx="13716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0817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정답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1·2·3·4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8725" y="4040505"/>
            <a:ext cx="137160" cy="2926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989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해설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글+그림 블록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70444" y="4040505"/>
            <a:ext cx="137160" cy="29260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7161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오답분석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&lt;ol&gt;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02165" y="4040505"/>
            <a:ext cx="137160" cy="2926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0333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학습POINT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공식·표 블록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맑은 고딕"/>
              </a:rPr>
              <a:t>A3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가로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한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페이지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· 1행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그룹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+ 2행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컬럼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데이터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2-1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메타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출처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코드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분류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세로축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속성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가로축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엑셀 좌반 16컬럼 · 시험 출신·정렬·카테고리·학습 메타</a:t>
            </a:r>
          </a:p>
        </p:txBody>
      </p:sp>
      <p:pic>
        <p:nvPicPr>
          <p:cNvPr id="5" name="Picture 4" descr="xlsx_left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2449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2976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297680"/>
            <a:ext cx="5669280" cy="38404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3525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📌  출처 (5컬럼) — 과정 · 연도 · 회차 · 사용교재 · 교재구분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어떤 시험에서 나온 문제인지 식별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같은 회차 문항 묶기 / 연도·회차별 필터링 기준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사용교재·교재구분: 변형이력 추적 시 기준 (다른 판 비교)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2976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566928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3525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🔖  코드 (1컬럼) — 문항코드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7548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정렬 키 — 시험 페이지가 이 코드 순으로 문항 나열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규칙: elec_&lt;교재구분&gt;_&lt;연도&gt;_&lt;회차&gt;_&lt;일련번호&gt;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회차 내 고유 · 다른 회차와 충돌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6235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5623560"/>
            <a:ext cx="5669280" cy="3840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67842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🗂  분류 (5컬럼, 세로축) — 과목ID · 챕터 · 대유형 · 중유형 ·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8076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콘텐츠 카테고리. 5단계 트리 (좁아질수록 구체적)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학습 시 챕터/유형별 검색·필터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통계: 어느 챕터·유형이 약점인지 산출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6235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5623560"/>
            <a:ext cx="566928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5678424"/>
            <a:ext cx="539496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맑은 고딕"/>
              </a:rPr>
              <a:t>🏷 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속성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(5컬럼,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가로축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) —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빈출도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난이도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문제유형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변형이력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비고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5080" y="6080760"/>
            <a:ext cx="5394960" cy="6001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빈출도·난이도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★1~</a:t>
            </a:r>
            <a:r>
              <a:rPr lang="en-US" sz="1100" b="0" dirty="0">
                <a:solidFill>
                  <a:srgbClr val="1F2937"/>
                </a:solidFill>
                <a:latin typeface="맑은 고딕"/>
              </a:rPr>
              <a:t>3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시험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필터·추천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기준</a:t>
            </a:r>
            <a:endParaRPr sz="11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문제유형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단답형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계산형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도식형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조합형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빈칸형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완성형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)</a:t>
            </a:r>
          </a:p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변형이력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0=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원본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· 1·2…=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변형문제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비고는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자유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메모</a:t>
            </a:r>
            <a:endParaRPr sz="1100" b="0" dirty="0">
              <a:solidFill>
                <a:srgbClr val="1F293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2-2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콘텐츠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발문·보기·정답·해설·오답분석·학습POINT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pic>
        <p:nvPicPr>
          <p:cNvPr id="5" name="Picture 4" descr="xlsx_right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821539"/>
            <a:ext cx="11795760" cy="34499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3840480" cy="38404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📝  발문 (3컬럼)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발문 / 조건 / 발문그림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허용 (&lt;sub&gt; &lt;sup&gt; &lt;i&gt;로 수식 표현)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그림 필요 시 [필요: 회로도] 마커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4023360"/>
            <a:ext cx="384048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✏  보기 (8컬럼)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보기1~4 + 보기1~4그림 각각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텍스트형 / 그림형(회로도 4개 비교 등) 둘 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 자체가 그림이면 보기N그림 컬럼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4023360"/>
            <a:ext cx="3840480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 정답 (1컬럼)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1·2·3·4 중 하나의 정수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 채점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드롭다운으로 입력 (오타 방지)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5394960"/>
            <a:ext cx="384048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💡  해설 (1컬럼) — 블록 시퀀스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한 셀에 [텍스트 + 그림 + 텍스트…] 자유 배치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블록: [IMG: 파일명] 단독 라인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블록 사이는 빈 줄로 구분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글-그림-글-그림 패턴 가능 (PDF 순서 보존)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5394960"/>
            <a:ext cx="3840480" cy="38404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🔍  오답분석 (1컬럼)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&lt;ol&gt;&lt;li&gt;...&lt;/li&gt;&lt;/ol&gt; 권장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정답이 ②면 &lt;li value="2"&gt;부터 시작 가능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단순 텍스트 위주 (블록 시퀀스 미적용)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5394960"/>
            <a:ext cx="3840480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🎯  학습 POINT (1컬럼) — 블록 시퀀스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해설과 동일 블록 구조 (글+그림)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공식·법칙·요약 표 (&lt;table&gt;) 위주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표 데이터는 텍스트 블록 안에 &lt;table&gt;로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필요 시 [IMG: [필요: 설명]] 마커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 err="1">
                <a:solidFill>
                  <a:srgbClr val="6B7280"/>
                </a:solidFill>
                <a:latin typeface="맑은 고딕"/>
              </a:rPr>
              <a:t>엑셀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우반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15컬럼 </a:t>
            </a:r>
            <a:r>
              <a:rPr lang="en-US" sz="1300" b="0" dirty="0">
                <a:solidFill>
                  <a:srgbClr val="6B7280"/>
                </a:solidFill>
                <a:latin typeface="맑은 고딕"/>
              </a:rPr>
              <a:t>/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해설</a:t>
            </a:r>
            <a:r>
              <a:rPr lang="en-US"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lang="ko-KR" altLang="en-US" sz="1300" b="0" dirty="0">
                <a:solidFill>
                  <a:srgbClr val="6B7280"/>
                </a:solidFill>
                <a:latin typeface="맑은 고딕"/>
              </a:rPr>
              <a:t>및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학습POINT는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한 셀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안에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블록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시퀀스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직렬화</a:t>
            </a:r>
            <a:endParaRPr sz="1300" b="0" dirty="0">
              <a:solidFill>
                <a:srgbClr val="6B728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3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lang="ko-KR" altLang="en-US" sz="2600" b="1" dirty="0">
                <a:solidFill>
                  <a:srgbClr val="1F2937"/>
                </a:solidFill>
                <a:latin typeface="맑은 고딕"/>
              </a:rPr>
              <a:t>샘플</a:t>
            </a:r>
            <a:r>
              <a:rPr lang="en-US" altLang="ko-KR" sz="2600" b="1" dirty="0">
                <a:solidFill>
                  <a:srgbClr val="1F2937"/>
                </a:solidFill>
                <a:latin typeface="맑은 고딕"/>
              </a:rPr>
              <a:t>)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URL: /admin/register · 좌측 입력 / 우측 실시간 미리보기</a:t>
            </a:r>
          </a:p>
        </p:txBody>
      </p:sp>
      <p:pic>
        <p:nvPicPr>
          <p:cNvPr id="5" name="Picture 4" descr="register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19420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4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매칭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01번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콘덴서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엑셀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한 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데이터가 두 형태로 보임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B2777"/>
                </a:solidFill>
                <a:latin typeface="맑은 고딕"/>
              </a:rPr>
              <a:t>🖊 등록 페이지 (미리보기 영역)</a:t>
            </a:r>
          </a:p>
        </p:txBody>
      </p:sp>
      <p:pic>
        <p:nvPicPr>
          <p:cNvPr id="6" name="Picture 5" descr="register_q01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5701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맑은 고딕"/>
              </a:rPr>
              <a:t>📊 엑셀 v3 — 같은 데이터의 엑셀 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7373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연도 / 회차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2022 /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문항코드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elec_A_2022_01_01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과목ID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챕터 →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정전기 › 콘덴서 › 정전용량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빈출도 /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 /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문제유형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단답형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콘덴서의 정전용량에 대한 설명으로 틀린 것은?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보기1~4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①전압 ②전하 ③넓이 ④간격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정답(1~4)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정전용량(C)은 극판의...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&lt;table&gt;정전용량 공식&lt;/table&gt;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5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해설·학습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POINT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텍스트 / 그림 블록을 + 버튼으로 자유 배치 · 순서 변경 / 삭제</a:t>
            </a:r>
          </a:p>
        </p:txBody>
      </p:sp>
      <p:pic>
        <p:nvPicPr>
          <p:cNvPr id="5" name="Picture 4" descr="register_q21_explain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520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21번 차동계전기 — 해설 영역 (텍스트 → 그림 → 텍스트 3블록)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371600"/>
            <a:ext cx="4937760" cy="5212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50876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🧩 블록 시퀀스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572000" cy="36009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종류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HTML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허용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파일명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또는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필요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: …]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하단의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 /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사이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아래에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조작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↑ ↓ 위/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이동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✕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삭제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동일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패턴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적용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해설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학습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POINT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활용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예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본문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회로도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설명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표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(PDF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그대로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옮기기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가능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6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실제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21번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차동계전기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3개)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좌측 입력 / 우측 실시간 미리보기 — 즉시 검증 가능</a:t>
            </a:r>
          </a:p>
        </p:txBody>
      </p:sp>
      <p:pic>
        <p:nvPicPr>
          <p:cNvPr id="5" name="Picture 4" descr="register_q21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22304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7. 🎬 강의주소 — 신규 영역 (메타 6번째)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시험 풀이 화면 상단에 강의 버튼을 띄우기 위한 URL 컬럼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🖊 등록 페이지 — 강의주소 입력</a:t>
            </a:r>
          </a:p>
        </p:txBody>
      </p:sp>
      <p:pic>
        <p:nvPicPr>
          <p:cNvPr id="6" name="Picture 5" descr="register_video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1383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👁 미리보기 — 시험 페이지 상단 강의 버튼 시뮬레이션</a:t>
            </a:r>
          </a:p>
        </p:txBody>
      </p:sp>
      <p:pic>
        <p:nvPicPr>
          <p:cNvPr id="8" name="Picture 7" descr="register_q21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662363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852160"/>
            <a:ext cx="11430000" cy="86868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7C3AED"/>
                </a:solidFill>
                <a:latin typeface="맑은 고딕"/>
              </a:rPr>
              <a:t>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맑은 고딕"/>
              </a:rPr>
              <a:t>강의주소 (1컬럼) — 메타 영역에 추가된 신규 컬럼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엑셀 v3 양식: "코드" 영역 다음에 보라색 "강의" 영역으로 분리 (1컬럼)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페이지가 이 URL을 받아 상단에 "🎬 이 문제 강의 보기" 버튼 노출 — YouTube 등 외부 영상 연결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8. 📁 그림 파일 업로드 UX — 모든 그림 컬럼에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드래그앤드롭 / 클릭 업로드 / 실제 파일 저장 + 썸네일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맑은 고딕"/>
              </a:rPr>
              <a:t>① 빈 상태 — 드롭존 (클릭 / 드래그앤드롭)</a:t>
            </a:r>
          </a:p>
        </p:txBody>
      </p:sp>
      <p:pic>
        <p:nvPicPr>
          <p:cNvPr id="6" name="Picture 5" descr="register_image_drop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2299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맑은 고딕"/>
              </a:rPr>
              <a:t>② 업로드 후 — 블록 시퀀스 안의 그림 블록</a:t>
            </a:r>
          </a:p>
        </p:txBody>
      </p:sp>
      <p:pic>
        <p:nvPicPr>
          <p:cNvPr id="8" name="Picture 7" descr="register_q21_explain_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47199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937760"/>
            <a:ext cx="11430000" cy="18288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⚙ 동작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1. 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클릭 또는
드롭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60904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2.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/api/upload
multipart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55464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37759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199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3. 서버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public/questions/
&lt;code&gt;__&lt;slot&gt;__&lt;name&gt;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50023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19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59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4. 파일명 회신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JSON
{ok, filename}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44583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2688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5. 미리보기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컬럼 값 채움
+ 썸네일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적용 컬럼: 발문그림 · 보기1~4그림 · 해설(블록 시퀀스 안의 그림) · 학습포인트(블록 시퀀스 안의 그림)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9. 📥 일괄 등록 — 엑셀 한 파일에 여러 문항 + 강의주소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운영자가 엑셀에 N개 문항·강의주소·블록 시퀀스 모두 채워서 한 번에 업로드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맑은 고딕"/>
              </a:rPr>
              <a:t>① 샘플 엑셀 — 5문항 + 강의주소 (sample_batch_5문항.xlsx)</a:t>
            </a:r>
          </a:p>
        </p:txBody>
      </p:sp>
      <p:pic>
        <p:nvPicPr>
          <p:cNvPr id="6" name="Picture 5" descr="xlsx_sample_batch_5문항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6583680" cy="4654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21208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· 보라색 「강의」 영역에 YouTube URL 5건 모두 채워짐  · 1·21·51번 + 추가 2문항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B2777"/>
                </a:solidFill>
                <a:latin typeface="맑은 고딕"/>
              </a:rPr>
              <a:t>② 일괄 등록 페이지 — 드롭존</a:t>
            </a:r>
          </a:p>
        </p:txBody>
      </p:sp>
      <p:pic>
        <p:nvPicPr>
          <p:cNvPr id="9" name="Picture 8" descr="batch_emp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91640"/>
            <a:ext cx="4754880" cy="34869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5760720"/>
            <a:ext cx="11430000" cy="91440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DB2777"/>
                </a:solidFill>
                <a:latin typeface="맑은 고딕"/>
              </a:rPr>
              <a:t>🔄 입구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1) 운영자가 v3 양식 엑셀에 N개 문항 작성 (강의주소·해설 블록 시퀀스 포함)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2) 일괄 등록 페이지(/admin/register-batch)에 파일 드롭 또는 클릭 선택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3) /api/bulk-parse가 시트 파싱 → 블록 시퀀스 분리 → JSON 배열 반환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10. ✅ 업로드 후 — 5문항 검수 + 한 번에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좌측: 문항 리스트 표 / 우측: 행 클릭 시 실시간 미리보기</a:t>
            </a:r>
          </a:p>
        </p:txBody>
      </p:sp>
      <p:pic>
        <p:nvPicPr>
          <p:cNvPr id="5" name="Picture 4" descr="batch_up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5699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280160"/>
            <a:ext cx="3657600" cy="5303520"/>
          </a:xfrm>
          <a:prstGeom prst="rect">
            <a:avLst/>
          </a:prstGeom>
          <a:solidFill>
            <a:srgbClr val="FAFAFA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141732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맑은 고딕"/>
              </a:rPr>
              <a:t>⚙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2880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상단 요약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파일명 · 총 N문항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🎬 강의주소 N건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⚠ 그림 마커 N건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표 컬럼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# · 문항코드 · 과목 ·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발문 요약 · 정답 ·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🎬 (강의 유무) · 상태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상태 컬럼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✓ 정상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⚠ 그림 마커 미해결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행 클릭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우측에 미리보기 갱신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(강의 버튼·블록 시퀀스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 모두 그대로 렌더링)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액션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[JSON 다운로드]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[전체 등록] — 백엔드 미정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맑은 고딕"/>
              </a:rPr>
              <a:t>✅ 엑셀 한 번 업로드 = 5문항 + 강의주소 + 블록 시퀀스 + 그림 마커 모두 일괄 등록 (검수 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1576</Words>
  <Application>Microsoft Office PowerPoint</Application>
  <PresentationFormat>와이드스크린</PresentationFormat>
  <Paragraphs>229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애드투 주식회사</cp:lastModifiedBy>
  <cp:revision>3</cp:revision>
  <dcterms:created xsi:type="dcterms:W3CDTF">2013-01-27T09:14:16Z</dcterms:created>
  <dcterms:modified xsi:type="dcterms:W3CDTF">2026-05-18T01:40:29Z</dcterms:modified>
  <cp:category/>
</cp:coreProperties>
</file>