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457200" cy="5486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1F2937"/>
                </a:solidFill>
                <a:latin typeface="맑은 고딕"/>
              </a:rPr>
              <a:t>엑셀 v3 양식 ↔ 등록 페이지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맑은 고딕"/>
              </a:rPr>
              <a:t>같은 데이터 모델 / 양방향 변환 / 블록 시퀀스 직렬화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엑셀 한 행 = 등록 페이지 한 화면 = 시험 한 문항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영역별 컬러 그룹화 — 출처 / 코드 / 분류 / 속성 / 콘텐츠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해설·학습 POINT는 텍스트+그림 블록 자유 배치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xlsx ↔ JSON 양방향 변환 검증 완료 (왕복 일치 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1. 전체 워크플로 — 엑셀 ↔ 등록 페이지 ↔ 시험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 모델을 세 곳에서 공유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📊  엑셀 v3 양식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data/templates/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question-template-v3.xlsx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- 31컬럼, 그룹 헤더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영역별 컬러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드롭다운 검증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배치 등록용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🖊  등록 페이지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src/app/admin/register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/admin/register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실시간 미리보기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HTML 입력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블록 시퀀스 UI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단일 문항 등록용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📝  시험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(향후 구현)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문항코드 순 정렬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회차/연도 필터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빈출도/난이도 필터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동일 데이터 모델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학습자에게 표시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412394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-Right Arrow 17"/>
          <p:cNvSpPr/>
          <p:nvPr/>
        </p:nvSpPr>
        <p:spPr>
          <a:xfrm>
            <a:off x="791870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🔄 양방향 변환: tools/question_io.py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python tools/question_io.py xlsx2json input.xlsx output.json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python tools/question_io.py json2xlsx input.json output.xlsx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2. 엑셀 v3 양식 — 31컬럼 한눈에 (영역별 그룹 헤더)</a:t>
            </a:r>
          </a:p>
        </p:txBody>
      </p:sp>
      <p:pic>
        <p:nvPicPr>
          <p:cNvPr id="5" name="Picture 4" descr="xlsx_question-template-v3-new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" y="1143000"/>
            <a:ext cx="11612880" cy="82099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5285" y="3674745"/>
            <a:ext cx="137160" cy="2926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45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출처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시험 출신 (회차)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7004" y="3674745"/>
            <a:ext cx="13716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817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코드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정렬·식별 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725" y="3674745"/>
            <a:ext cx="13716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89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분류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카테고리 (세로축)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444" y="3674745"/>
            <a:ext cx="137160" cy="2926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61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속성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 메타 (가로축)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2165" y="3674745"/>
            <a:ext cx="137160" cy="29260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333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발문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문제 본문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285" y="4040505"/>
            <a:ext cx="13716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45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보기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4지선다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7004" y="4040505"/>
            <a:ext cx="13716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0817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정답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1·2·3·4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8725" y="4040505"/>
            <a:ext cx="137160" cy="2926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989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해설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글+그림 블록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70444" y="4040505"/>
            <a:ext cx="137160" cy="29260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7161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오답분석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&lt;ol&gt;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02165" y="4040505"/>
            <a:ext cx="137160" cy="2926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0333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학습POINT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공식·표 블록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맑은 고딕"/>
              </a:rPr>
              <a:t>A3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가로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한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페이지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· 1행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그룹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+ 2행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컬럼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데이터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2-1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메타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출처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코드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분류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세로축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속성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가로축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엑셀 좌반 16컬럼 · 시험 출신·정렬·카테고리·학습 메타</a:t>
            </a:r>
          </a:p>
        </p:txBody>
      </p:sp>
      <p:pic>
        <p:nvPicPr>
          <p:cNvPr id="5" name="Picture 4" descr="xlsx_left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2449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2976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297680"/>
            <a:ext cx="5669280" cy="38404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3525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📌  출처 (5컬럼) — 과정 · 연도 · 회차 · 사용교재 · 교재구분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어떤 시험에서 나온 문제인지 식별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같은 회차 문항 묶기 / 연도·회차별 필터링 기준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사용교재·교재구분: 변형이력 추적 시 기준 (다른 판 비교)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2976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566928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3525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🔖  코드 (1컬럼) — 문항코드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7548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정렬 키 — 시험 페이지가 이 코드 순으로 문항 나열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규칙: elec_&lt;교재구분&gt;_&lt;연도&gt;_&lt;회차&gt;_&lt;일련번호&gt;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회차 내 고유 · 다른 회차와 충돌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6235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5623560"/>
            <a:ext cx="5669280" cy="3840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67842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🗂  분류 (5컬럼, 세로축) — 과목ID · 챕터 · 대유형 · 중유형 ·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8076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콘텐츠 카테고리. 5단계 트리 (좁아질수록 구체적)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학습 시 챕터/유형별 검색·필터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통계: 어느 챕터·유형이 약점인지 산출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6235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5623560"/>
            <a:ext cx="566928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567842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🏷  속성 (5컬럼, 가로축) — 빈출도 · 난이도 · 문제유형 · 변형이력 · 비고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8076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빈출도·난이도 ★1~5 — 시험 페이지 필터·추천 기준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문제유형 (단답형/계산형/도식형/조합형/빈칸형/완성형)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변형이력 0=원본 · 1·2…=변형문제 · 비고는 자유 메모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2-2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콘텐츠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발문·보기·정답·해설·오답분석·학습POINT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pic>
        <p:nvPicPr>
          <p:cNvPr id="5" name="Picture 4" descr="xlsx_right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821539"/>
            <a:ext cx="11795760" cy="34499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3840480" cy="38404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📝  발문 (3컬럼)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발문 / 조건 / 발문그림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허용 (&lt;sub&gt; &lt;sup&gt; &lt;i&gt;로 수식 표현)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그림 필요 시 [필요: 회로도] 마커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4023360"/>
            <a:ext cx="384048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✏  보기 (8컬럼)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보기1~4 + 보기1~4그림 각각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텍스트형 / 그림형(회로도 4개 비교 등) 둘 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 자체가 그림이면 보기N그림 컬럼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4023360"/>
            <a:ext cx="3840480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 정답 (1컬럼)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1·2·3·4 중 하나의 정수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 채점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드롭다운으로 입력 (오타 방지)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5394960"/>
            <a:ext cx="384048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💡  해설 (1컬럼) — 블록 시퀀스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한 셀에 [텍스트 + 그림 + 텍스트…] 자유 배치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블록: [IMG: 파일명] 단독 라인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블록 사이는 빈 줄로 구분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글-그림-글-그림 패턴 가능 (PDF 순서 보존)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5394960"/>
            <a:ext cx="3840480" cy="38404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🔍  오답분석 (1컬럼)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&lt;ol&gt;&lt;li&gt;...&lt;/li&gt;&lt;/ol&gt; 권장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정답이 ②면 &lt;li value="2"&gt;부터 시작 가능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단순 텍스트 위주 (블록 시퀀스 미적용)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5394960"/>
            <a:ext cx="3840480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🎯  학습 POINT (1컬럼) — 블록 시퀀스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해설과 동일 블록 구조 (글+그림)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공식·법칙·요약 표 (&lt;table&gt;) 위주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표 데이터는 텍스트 블록 안에 &lt;table&gt;로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필요 시 [IMG: [필요: 설명]] 마커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 err="1">
                <a:solidFill>
                  <a:srgbClr val="6B7280"/>
                </a:solidFill>
                <a:latin typeface="맑은 고딕"/>
              </a:rPr>
              <a:t>엑셀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우반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15컬럼 </a:t>
            </a:r>
            <a:r>
              <a:rPr lang="en-US" sz="1300" b="0" dirty="0">
                <a:solidFill>
                  <a:srgbClr val="6B7280"/>
                </a:solidFill>
                <a:latin typeface="맑은 고딕"/>
              </a:rPr>
              <a:t>/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해설</a:t>
            </a:r>
            <a:r>
              <a:rPr lang="en-US"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lang="ko-KR" altLang="en-US" sz="1300" b="0" dirty="0">
                <a:solidFill>
                  <a:srgbClr val="6B7280"/>
                </a:solidFill>
                <a:latin typeface="맑은 고딕"/>
              </a:rPr>
              <a:t>및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학습POINT는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한 셀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안에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블록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시퀀스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직렬화</a:t>
            </a:r>
            <a:endParaRPr sz="1300" b="0" dirty="0">
              <a:solidFill>
                <a:srgbClr val="6B728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3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lang="ko-KR" altLang="en-US" sz="2600" b="1" dirty="0">
                <a:solidFill>
                  <a:srgbClr val="1F2937"/>
                </a:solidFill>
                <a:latin typeface="맑은 고딕"/>
              </a:rPr>
              <a:t>샘플</a:t>
            </a:r>
            <a:r>
              <a:rPr lang="en-US" altLang="ko-KR" sz="2600" b="1" dirty="0">
                <a:solidFill>
                  <a:srgbClr val="1F2937"/>
                </a:solidFill>
                <a:latin typeface="맑은 고딕"/>
              </a:rPr>
              <a:t>)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URL: /admin/register · 좌측 입력 / 우측 실시간 미리보기</a:t>
            </a:r>
          </a:p>
        </p:txBody>
      </p:sp>
      <p:pic>
        <p:nvPicPr>
          <p:cNvPr id="5" name="Picture 4" descr="register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19420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4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매칭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01번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콘덴서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엑셀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한 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데이터가 두 형태로 보임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B2777"/>
                </a:solidFill>
                <a:latin typeface="맑은 고딕"/>
              </a:rPr>
              <a:t>🖊 등록 페이지 (미리보기 영역)</a:t>
            </a:r>
          </a:p>
        </p:txBody>
      </p:sp>
      <p:pic>
        <p:nvPicPr>
          <p:cNvPr id="6" name="Picture 5" descr="register_q01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5701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맑은 고딕"/>
              </a:rPr>
              <a:t>📊 엑셀 v3 — 같은 데이터의 엑셀 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7373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연도 / 회차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2022 /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문항코드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elec_A_2022_01_01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과목ID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챕터 →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정전기 › 콘덴서 › 정전용량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빈출도 /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 /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문제유형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단답형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콘덴서의 정전용량에 대한 설명으로 틀린 것은?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보기1~4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①전압 ②전하 ③넓이 ④간격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정답(1~4)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정전용량(C)은 극판의...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&lt;table&gt;정전용량 공식&lt;/table&gt;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5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해설·학습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POINT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텍스트 / 그림 블록을 + 버튼으로 자유 배치 · 순서 변경 / 삭제</a:t>
            </a:r>
          </a:p>
        </p:txBody>
      </p:sp>
      <p:pic>
        <p:nvPicPr>
          <p:cNvPr id="5" name="Picture 4" descr="register_q21_explain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520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21번 차동계전기 — 해설 영역 (텍스트 → 그림 → 텍스트 3블록)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371600"/>
            <a:ext cx="4937760" cy="5212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50876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🧩 블록 시퀀스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572000" cy="36009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종류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HTML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허용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파일명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또는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필요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: …]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하단의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 /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사이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아래에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조작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↑ ↓ 위/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이동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✕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삭제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동일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패턴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적용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해설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학습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POINT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활용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예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본문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회로도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설명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표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(PDF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그대로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옮기기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가능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6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실제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21번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차동계전기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3개)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좌측 입력 / 우측 실시간 미리보기 — 즉시 검증 가능</a:t>
            </a:r>
          </a:p>
        </p:txBody>
      </p:sp>
      <p:pic>
        <p:nvPicPr>
          <p:cNvPr id="5" name="Picture 4" descr="register_q21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22304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1095</Words>
  <Application>Microsoft Office PowerPoint</Application>
  <PresentationFormat>와이드스크린</PresentationFormat>
  <Paragraphs>170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애드투 주식회사</cp:lastModifiedBy>
  <cp:revision>2</cp:revision>
  <dcterms:created xsi:type="dcterms:W3CDTF">2013-01-27T09:14:16Z</dcterms:created>
  <dcterms:modified xsi:type="dcterms:W3CDTF">2026-05-15T06:23:06Z</dcterms:modified>
  <cp:category/>
</cp:coreProperties>
</file>