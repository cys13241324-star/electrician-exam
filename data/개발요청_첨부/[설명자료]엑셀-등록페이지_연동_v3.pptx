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엑셀 업로드 영역" id="{69E4408B-EEB2-49D0-885E-4997F7EE8044}">
          <p14:sldIdLst>
            <p14:sldId id="257"/>
            <p14:sldId id="258"/>
            <p14:sldId id="259"/>
            <p14:sldId id="260"/>
          </p14:sldIdLst>
        </p14:section>
        <p14:section name="관리자 페이지" id="{8D15BC34-1D81-43ED-8B99-A25BDBB1B380}">
          <p14:sldIdLst>
            <p14:sldId id="261"/>
            <p14:sldId id="262"/>
            <p14:sldId id="263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1. 전체 워크플로 — 엑셀 ↔ 등록 페이지 ↔ 시험 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같은 데이터 모델을 세 곳에서 공유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📊  엑셀 v3 양식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9184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- 33컬럼,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그룹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헤더</a:t>
            </a:r>
            <a:endParaRPr sz="1200" b="0" dirty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-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영역별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컬러</a:t>
            </a:r>
            <a:endParaRPr sz="1200" b="0" dirty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-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드롭다운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검증</a:t>
            </a:r>
            <a:endParaRPr sz="1200" b="0" dirty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-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배치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등록용</a:t>
            </a:r>
            <a:endParaRPr sz="1200" b="0" dirty="0">
              <a:solidFill>
                <a:srgbClr val="1F2937"/>
              </a:solidFill>
              <a:latin typeface="Consola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5196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554480"/>
            <a:ext cx="3657600" cy="5486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🖊  등록 페이지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9184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-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실시간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미리보기</a:t>
            </a:r>
            <a:endParaRPr sz="1200" b="0" dirty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- HTML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입력</a:t>
            </a:r>
            <a:endParaRPr sz="1200" b="0" dirty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-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블록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시퀀스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UI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-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단일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문항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등록용</a:t>
            </a:r>
            <a:endParaRPr sz="1200" b="0" dirty="0">
              <a:solidFill>
                <a:srgbClr val="1F2937"/>
              </a:solidFill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3657600" cy="5486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📝  시험 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(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향후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구현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)</a:t>
            </a:r>
          </a:p>
          <a:p>
            <a:pPr algn="l"/>
            <a:r>
              <a:rPr sz="1200" b="0" dirty="0" err="1">
                <a:solidFill>
                  <a:srgbClr val="1F2937"/>
                </a:solidFill>
                <a:latin typeface="Consolas"/>
              </a:rPr>
              <a:t>문항코드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순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정렬</a:t>
            </a:r>
            <a:endParaRPr sz="1200" b="0" dirty="0">
              <a:solidFill>
                <a:srgbClr val="1F2937"/>
              </a:solidFill>
              <a:latin typeface="Consolas"/>
            </a:endParaRPr>
          </a:p>
          <a:p>
            <a:pPr algn="l"/>
            <a:endParaRPr sz="1200" b="0" dirty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-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회차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/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연도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필터</a:t>
            </a:r>
            <a:endParaRPr sz="1200" b="0" dirty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-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빈출도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/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난이도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필터</a:t>
            </a:r>
            <a:endParaRPr sz="1200" b="0" dirty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-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동일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데이터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모델</a:t>
            </a:r>
            <a:endParaRPr sz="1200" b="0" dirty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-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학습자에게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표시</a:t>
            </a:r>
            <a:endParaRPr sz="1200" b="0" dirty="0">
              <a:solidFill>
                <a:srgbClr val="1F2937"/>
              </a:solidFill>
              <a:latin typeface="Consolas"/>
            </a:endParaRPr>
          </a:p>
        </p:txBody>
      </p:sp>
      <p:sp>
        <p:nvSpPr>
          <p:cNvPr id="17" name="Left-Right Arrow 16"/>
          <p:cNvSpPr/>
          <p:nvPr/>
        </p:nvSpPr>
        <p:spPr>
          <a:xfrm>
            <a:off x="4123944" y="3108960"/>
            <a:ext cx="118872" cy="457200"/>
          </a:xfrm>
          <a:prstGeom prst="left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eft-Right Arrow 17"/>
          <p:cNvSpPr/>
          <p:nvPr/>
        </p:nvSpPr>
        <p:spPr>
          <a:xfrm>
            <a:off x="7918704" y="3108960"/>
            <a:ext cx="118872" cy="457200"/>
          </a:xfrm>
          <a:prstGeom prst="left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맑은 고딕"/>
              </a:rPr>
              <a:t>🔄 양방향 변환: tools/question_io.py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python tools/question_io.py xlsx2json input.xlsx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output.json</a:t>
            </a:r>
            <a:endParaRPr sz="1200" b="0" dirty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Consolas"/>
              </a:rPr>
              <a:t>python tools/question_io.py json2xlsx </a:t>
            </a:r>
            <a:r>
              <a:rPr sz="1200" b="0" dirty="0" err="1">
                <a:solidFill>
                  <a:srgbClr val="1F2937"/>
                </a:solidFill>
                <a:latin typeface="Consolas"/>
              </a:rPr>
              <a:t>input.json</a:t>
            </a:r>
            <a:r>
              <a:rPr sz="1200" b="0" dirty="0">
                <a:solidFill>
                  <a:srgbClr val="1F2937"/>
                </a:solidFill>
                <a:latin typeface="Consolas"/>
              </a:rPr>
              <a:t> output.xlsx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2. 엑셀 v3 양식 — 33컬럼 한눈에 (영역별 그룹 헤더)</a:t>
            </a:r>
          </a:p>
        </p:txBody>
      </p:sp>
      <p:pic>
        <p:nvPicPr>
          <p:cNvPr id="5" name="Picture 4" descr="xlsx_question-template-v3-new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2" y="1143000"/>
            <a:ext cx="11612880" cy="82099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5285" y="3674745"/>
            <a:ext cx="137160" cy="2926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45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출처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시험 출신 (회차)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7004" y="3674745"/>
            <a:ext cx="13716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8172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코드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정렬·식별 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725" y="3674745"/>
            <a:ext cx="137160" cy="2926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989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분류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카테고리 (세로축)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444" y="3674745"/>
            <a:ext cx="137160" cy="2926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71612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속성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학습 메타 (가로축)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02165" y="3674745"/>
            <a:ext cx="137160" cy="29260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0333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발문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문제 본문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5285" y="4040505"/>
            <a:ext cx="13716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45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보기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4지선다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07004" y="4040505"/>
            <a:ext cx="13716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08172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정답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1·2·3·4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38725" y="4040505"/>
            <a:ext cx="137160" cy="2926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989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해설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HTML + &lt;img&gt;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70444" y="4040505"/>
            <a:ext cx="137160" cy="292608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71612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오답분석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HTML &lt;ol&gt; + &lt;img&gt;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02165" y="4040505"/>
            <a:ext cx="137160" cy="2926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0333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학습POINT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HTML + &lt;img&gt;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6B7280"/>
                </a:solidFill>
                <a:latin typeface="맑은 고딕"/>
              </a:rPr>
              <a:t>A3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가로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한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페이지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· 1행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그룹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헤더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+ 2행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컬럼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헤더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+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데이터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2-1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메타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출처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코드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분류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세로축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속성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가로축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엑셀 좌반 17컬럼 · 시험 출신·정렬·카테고리·학습 메타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22148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221480"/>
            <a:ext cx="5669280" cy="38404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276344"/>
            <a:ext cx="539496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맑은 고딕"/>
              </a:rPr>
              <a:t>📌 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출처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(6컬럼) —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과정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연도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회차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번호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사용교재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교재구분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467868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어떤 시험에서 나온 문제인지 식별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같은 회차 문항 묶기 / 연도·회차별 필터링 기준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사용교재·교재구분: 변형이력 추적 시 기준 (다른 판 비교)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22148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4221480"/>
            <a:ext cx="566928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27634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맑은 고딕"/>
              </a:rPr>
              <a:t>🔖  </a:t>
            </a:r>
            <a:r>
              <a:rPr sz="1400" b="1" dirty="0" err="1">
                <a:solidFill>
                  <a:srgbClr val="FFFFFF"/>
                </a:solidFill>
                <a:latin typeface="맑은 고딕"/>
              </a:rPr>
              <a:t>코드</a:t>
            </a:r>
            <a:r>
              <a:rPr sz="1400" b="1" dirty="0">
                <a:solidFill>
                  <a:srgbClr val="FFFFFF"/>
                </a:solidFill>
                <a:latin typeface="맑은 고딕"/>
              </a:rPr>
              <a:t> (1컬럼) — </a:t>
            </a:r>
            <a:r>
              <a:rPr sz="1400" b="1" dirty="0" err="1">
                <a:solidFill>
                  <a:srgbClr val="FFFFFF"/>
                </a:solidFill>
                <a:latin typeface="맑은 고딕"/>
              </a:rPr>
              <a:t>문항코드</a:t>
            </a:r>
            <a:endParaRPr sz="14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55080" y="467868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정렬 키 — 시험 페이지가 이 코드 순으로 문항 나열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규칙: elec_&lt;교재구분&gt;_&lt;연도&gt;_&lt;회차&gt;_&lt;일련번호&gt;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회차 내 고유 · 다른 회차와 충돌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54736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5547360"/>
            <a:ext cx="5669280" cy="38404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5602224"/>
            <a:ext cx="539496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맑은 고딕"/>
              </a:rPr>
              <a:t>🗂  </a:t>
            </a:r>
            <a:r>
              <a:rPr sz="1400" b="1" dirty="0" err="1">
                <a:solidFill>
                  <a:srgbClr val="FFFFFF"/>
                </a:solidFill>
                <a:latin typeface="맑은 고딕"/>
              </a:rPr>
              <a:t>분류</a:t>
            </a:r>
            <a:r>
              <a:rPr sz="1400" b="1" dirty="0">
                <a:solidFill>
                  <a:srgbClr val="FFFFFF"/>
                </a:solidFill>
                <a:latin typeface="맑은 고딕"/>
              </a:rPr>
              <a:t> (5컬럼, </a:t>
            </a:r>
            <a:r>
              <a:rPr sz="1400" b="1" dirty="0" err="1">
                <a:solidFill>
                  <a:srgbClr val="FFFFFF"/>
                </a:solidFill>
                <a:latin typeface="맑은 고딕"/>
              </a:rPr>
              <a:t>세로축</a:t>
            </a:r>
            <a:r>
              <a:rPr sz="1400" b="1" dirty="0">
                <a:solidFill>
                  <a:srgbClr val="FFFFFF"/>
                </a:solidFill>
                <a:latin typeface="맑은 고딕"/>
              </a:rPr>
              <a:t>) — </a:t>
            </a:r>
            <a:r>
              <a:rPr sz="1400" b="1" dirty="0" err="1">
                <a:solidFill>
                  <a:srgbClr val="FFFFFF"/>
                </a:solidFill>
                <a:latin typeface="맑은 고딕"/>
              </a:rPr>
              <a:t>과목ID</a:t>
            </a:r>
            <a:r>
              <a:rPr sz="14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400" b="1" dirty="0" err="1">
                <a:solidFill>
                  <a:srgbClr val="FFFFFF"/>
                </a:solidFill>
                <a:latin typeface="맑은 고딕"/>
              </a:rPr>
              <a:t>챕터</a:t>
            </a:r>
            <a:r>
              <a:rPr sz="14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400" b="1" dirty="0" err="1">
                <a:solidFill>
                  <a:srgbClr val="FFFFFF"/>
                </a:solidFill>
                <a:latin typeface="맑은 고딕"/>
              </a:rPr>
              <a:t>대유형</a:t>
            </a:r>
            <a:r>
              <a:rPr sz="14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400" b="1" dirty="0" err="1">
                <a:solidFill>
                  <a:srgbClr val="FFFFFF"/>
                </a:solidFill>
                <a:latin typeface="맑은 고딕"/>
              </a:rPr>
              <a:t>중유형</a:t>
            </a:r>
            <a:r>
              <a:rPr sz="14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400" b="1" dirty="0" err="1">
                <a:solidFill>
                  <a:srgbClr val="FFFFFF"/>
                </a:solidFill>
                <a:latin typeface="맑은 고딕"/>
              </a:rPr>
              <a:t>내용</a:t>
            </a:r>
            <a:endParaRPr sz="14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00456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콘텐츠 카테고리. 5단계 트리 (좁아질수록 구체적)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학습 시 챕터/유형별 검색·필터 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통계: 어느 챕터·유형이 약점인지 산출 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554736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5547360"/>
            <a:ext cx="5669280" cy="3840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5602224"/>
            <a:ext cx="539496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맑은 고딕"/>
              </a:rPr>
              <a:t>🏷 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속성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(5컬럼,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가로축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) —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빈출도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난이도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문제유형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변형이력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·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비고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55080" y="6004560"/>
            <a:ext cx="5394960" cy="6001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dirty="0">
                <a:solidFill>
                  <a:srgbClr val="1F2937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빈출도·난이도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★1~</a:t>
            </a:r>
            <a:r>
              <a:rPr lang="en-US" sz="1100" b="0" dirty="0">
                <a:solidFill>
                  <a:srgbClr val="1F2937"/>
                </a:solidFill>
                <a:latin typeface="맑은 고딕"/>
              </a:rPr>
              <a:t>3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시험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필터·추천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기준</a:t>
            </a:r>
            <a:endParaRPr sz="11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 dirty="0">
                <a:solidFill>
                  <a:srgbClr val="1F2937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문제유형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단답형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계산형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도식형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조합형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빈칸형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/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완성형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)</a:t>
            </a:r>
          </a:p>
          <a:p>
            <a:pPr algn="l"/>
            <a:r>
              <a:rPr sz="1100" b="0" dirty="0">
                <a:solidFill>
                  <a:srgbClr val="1F2937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변형이력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0=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원본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· 1·2…=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변형문제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·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비고는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자유</a:t>
            </a:r>
            <a:r>
              <a:rPr sz="11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F2937"/>
                </a:solidFill>
                <a:latin typeface="맑은 고딕"/>
              </a:rPr>
              <a:t>메모</a:t>
            </a:r>
            <a:endParaRPr sz="1100" b="0" dirty="0">
              <a:solidFill>
                <a:srgbClr val="1F2937"/>
              </a:solidFill>
              <a:latin typeface="맑은 고딕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91FFE90-4FF3-4B68-FB9B-B7D0BEB1C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452" y="1123340"/>
            <a:ext cx="9401175" cy="2967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2-2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콘텐츠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발문·보기·정답·해설·오답분석·학습POINT</a:t>
            </a:r>
            <a:endParaRPr sz="2600" b="1" dirty="0">
              <a:solidFill>
                <a:srgbClr val="1F2937"/>
              </a:solidFill>
              <a:latin typeface="맑은 고딕"/>
            </a:endParaRPr>
          </a:p>
        </p:txBody>
      </p:sp>
      <p:pic>
        <p:nvPicPr>
          <p:cNvPr id="5" name="Picture 4" descr="xlsx_right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821539"/>
            <a:ext cx="11795760" cy="34499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023360"/>
            <a:ext cx="3840480" cy="38404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📝  발문 (3컬럼)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발문 / 조건 / 발문그림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HTML + LaTeX 수식 ($…$ 인라인 / $$…$$ 디스플레이)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그림 필요 시 [필요: 회로도] 마커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4023360"/>
            <a:ext cx="384048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✏  보기 (8컬럼)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보기1~4 + 보기1~4그림 각각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텍스트형 / 그림형(회로도 4개 비교 등) 둘 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보기 자체가 그림이면 보기N그림 컬럼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4023360"/>
            <a:ext cx="3840480" cy="3840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 정답 (1컬럼)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1·2·3·4 중 하나의 정수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시험 페이지 채점 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드롭다운으로 입력 (오타 방지)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5394960"/>
            <a:ext cx="3840480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💡  해설 (1컬럼) — 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한 셀에 HTML 작성 (텍스트·그림 교차)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그림: &lt;img src="파일명"&gt; 본문 삽입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그림 여러 개·위치 제한 없음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글-그림-글-그림 패턴 가능 (PDF 순서 보존)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5394960"/>
            <a:ext cx="3840480" cy="384048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🔍  오답분석 (1컬럼)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HTML &lt;ol&gt;&lt;li&gt;...&lt;/li&gt;&lt;/ol&gt; 권장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정답이 ②면 &lt;li value="2"&gt;부터 시작 가능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그림 필요 시 &lt;img src="파일명"&gt; 삽입 가능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5394960"/>
            <a:ext cx="3840480" cy="3840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🎯  학습 POINT (1컬럼) — 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해설과 동일 (HTML + &lt;img&gt;)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공식·법칙·요약 표 (&lt;table&gt;) 위주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표는 &lt;table&gt;로 작성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그림 미정 시 &lt;img src="[필요: 설명]"&gt;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 err="1">
                <a:solidFill>
                  <a:srgbClr val="6B7280"/>
                </a:solidFill>
                <a:latin typeface="맑은 고딕"/>
              </a:rPr>
              <a:t>엑셀 우반 15컬럼 / 해설·오답분석·학습POINT는 한 셀에 HTML 작성 (&lt;img&gt;로 그림)</a:t>
            </a:r>
            <a:endParaRPr sz="1300" b="0" dirty="0">
              <a:solidFill>
                <a:srgbClr val="6B7280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3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화면</a:t>
            </a:r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lang="ko-KR" altLang="en-US" sz="2600" b="1" dirty="0">
                <a:solidFill>
                  <a:srgbClr val="1F2937"/>
                </a:solidFill>
                <a:latin typeface="맑은 고딕"/>
              </a:rPr>
              <a:t>샘플</a:t>
            </a:r>
            <a:r>
              <a:rPr lang="en-US" altLang="ko-KR" sz="2600" b="1" dirty="0">
                <a:solidFill>
                  <a:srgbClr val="1F2937"/>
                </a:solidFill>
                <a:latin typeface="맑은 고딕"/>
              </a:rPr>
              <a:t>)</a:t>
            </a:r>
            <a:endParaRPr sz="2600" b="1" dirty="0">
              <a:solidFill>
                <a:srgbClr val="1F2937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URL: /admin/register · 좌측 입력 / 우측 실시간 미리보기</a:t>
            </a:r>
          </a:p>
        </p:txBody>
      </p:sp>
      <p:pic>
        <p:nvPicPr>
          <p:cNvPr id="5" name="Picture 4" descr="register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194200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4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매칭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01번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콘덴서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엑셀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한 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같은 데이터가 두 형태로 보임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B2777"/>
                </a:solidFill>
                <a:latin typeface="맑은 고딕"/>
              </a:rPr>
              <a:t>🖊 등록 페이지 (미리보기 영역)</a:t>
            </a:r>
          </a:p>
        </p:txBody>
      </p:sp>
      <p:pic>
        <p:nvPicPr>
          <p:cNvPr id="6" name="Picture 5" descr="register_q01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57015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맑은 고딕"/>
              </a:rPr>
              <a:t>📊 엑셀 v3 — 같은 데이터의 엑셀 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73736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연도 / 회차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2022 /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문항코드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elec_A_2022_01_01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과목ID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theory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챕터 →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정전기 › 콘덴서 › 정전용량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속성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빈출도 / 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4 /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속성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문제유형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단답형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발문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발문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콘덴서의 정전용량에 대한 설명으로 틀린 것은?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보기1~4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①전압 ②전하 ③넓이 ④간격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정답(1~4)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정전용량(C)은 극판의...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학습POINT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학습포인트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&lt;table&gt;정전용량 공식&lt;/table&gt;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5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시퀀스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해설·학습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POINT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텍스트 / 그림 블록을 + 버튼으로 자유 배치 · 순서 변경 / 삭제</a:t>
            </a:r>
          </a:p>
        </p:txBody>
      </p:sp>
      <p:pic>
        <p:nvPicPr>
          <p:cNvPr id="5" name="Picture 4" descr="register_q21_explain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400800" cy="5205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맑은 고딕"/>
              </a:rPr>
              <a:t>21번 차동계전기 — 해설 영역 (텍스트 → 그림 → 텍스트 3블록)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371600"/>
            <a:ext cx="4937760" cy="5212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50876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맑은 고딕"/>
              </a:rPr>
              <a:t>🧩 블록 시퀀스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4572000" cy="36009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종류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r>
              <a:rPr lang="en-US" sz="1200" b="0" dirty="0">
                <a:solidFill>
                  <a:srgbClr val="1F2937"/>
                </a:solidFill>
                <a:latin typeface="맑은 고딕"/>
              </a:rPr>
              <a:t>  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1F2937"/>
                </a:solidFill>
                <a:latin typeface="맑은 고딕"/>
              </a:rPr>
              <a:t>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— HTML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허용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r>
              <a:rPr lang="en-US" sz="1200" b="0" dirty="0">
                <a:solidFill>
                  <a:srgbClr val="1F2937"/>
                </a:solidFill>
                <a:latin typeface="맑은 고딕"/>
              </a:rPr>
              <a:t>  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1F2937"/>
                </a:solidFill>
                <a:latin typeface="맑은 고딕"/>
              </a:rPr>
              <a:t>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파일명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또는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필요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: …]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추가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하단의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 /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사이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아래에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조작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↑ ↓ 위/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아래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이동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✕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삭제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동일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패턴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적용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해설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학습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POINT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활용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예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본문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회로도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추가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설명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표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(PDF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시퀀스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그대로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옮기기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가능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6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실제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화면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21번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차동계전기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3개)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좌측 입력 / 우측 실시간 미리보기 — 즉시 검증 가능</a:t>
            </a:r>
          </a:p>
        </p:txBody>
      </p:sp>
      <p:pic>
        <p:nvPicPr>
          <p:cNvPr id="5" name="Picture 4" descr="register_q21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22304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7. 🎬 강의주소 — 신규 영역 (메타 6번째)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시험 풀이 화면 상단에 강의 버튼을 띄우기 위한 URL 컬럼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맑은 고딕"/>
              </a:rPr>
              <a:t>🖊 등록 페이지 — 강의주소 입력</a:t>
            </a:r>
          </a:p>
        </p:txBody>
      </p:sp>
      <p:pic>
        <p:nvPicPr>
          <p:cNvPr id="6" name="Picture 5" descr="register_video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1383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맑은 고딕"/>
              </a:rPr>
              <a:t>👁 미리보기 — 시험 페이지 상단 강의 버튼 시뮬레이션</a:t>
            </a:r>
          </a:p>
        </p:txBody>
      </p:sp>
      <p:pic>
        <p:nvPicPr>
          <p:cNvPr id="8" name="Picture 7" descr="register_q21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486400" cy="662363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5852160"/>
            <a:ext cx="11430000" cy="86868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457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7C3AED"/>
                </a:solidFill>
                <a:latin typeface="맑은 고딕"/>
              </a:rPr>
              <a:t>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맑은 고딕"/>
              </a:rPr>
              <a:t>강의주소 (1컬럼) — 메타 영역에 추가된 신규 컬럼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6364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엑셀 v3 양식: "코드" 영역 다음에 보라색 "강의" 영역으로 분리 (1컬럼)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시험 페이지가 이 URL을 받아 상단에 "🎬 이 문제 강의 보기" 버튼 노출 — YouTube 등 외부 영상 연결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8. 📁 그림 파일 업로드 UX — 모든 그림 컬럼에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드래그앤드롭 / 클릭 업로드 / 실제 파일 저장 + 썸네일 미리보기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맑은 고딕"/>
              </a:rPr>
              <a:t>① 빈 상태 — 드롭존 (클릭 / 드래그앤드롭)</a:t>
            </a:r>
          </a:p>
        </p:txBody>
      </p:sp>
      <p:pic>
        <p:nvPicPr>
          <p:cNvPr id="6" name="Picture 5" descr="register_image_drop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22996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맑은 고딕"/>
              </a:rPr>
              <a:t>② 업로드 후 — 블록 시퀀스 안의 그림 블록</a:t>
            </a:r>
          </a:p>
        </p:txBody>
      </p:sp>
      <p:pic>
        <p:nvPicPr>
          <p:cNvPr id="8" name="Picture 7" descr="register_q21_explain_bl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486400" cy="471991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937760"/>
            <a:ext cx="11430000" cy="182880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맑은 고딕"/>
              </a:rPr>
              <a:t>⚙ 동작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1. 파일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클릭 또는
드롭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60904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2. 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/api/upload
multipart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55464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37759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199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3. 서버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public/questions/
&lt;code&gt;__&lt;slot&gt;__&lt;name&gt;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50023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19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59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4. 파일명 회신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JSON
{ok, filename}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44583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26880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0" y="5577840"/>
            <a:ext cx="1920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5. 미리보기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5943600"/>
            <a:ext cx="1920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컬럼 값 채움
+ 썸네일 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적용 컬럼: 발문그림 · 보기1~4그림 · 해설(블록 시퀀스 안의 그림) · 학습포인트(블록 시퀀스 안의 그림)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9. 📥 일괄 등록 — 엑셀 한 파일에 여러 문항 + 강의주소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운영자가 엑셀에 N개 문항·강의주소·블록 시퀀스 모두 채워서 한 번에 업로드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6583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맑은 고딕"/>
              </a:rPr>
              <a:t>① 샘플 엑셀 — 5문항 + 강의주소 (sample_batch_5문항.xlsx)</a:t>
            </a:r>
          </a:p>
        </p:txBody>
      </p:sp>
      <p:pic>
        <p:nvPicPr>
          <p:cNvPr id="6" name="Picture 5" descr="xlsx_sample_batch_5문항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6583680" cy="46544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212080"/>
            <a:ext cx="6583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· 보라색 「강의」 영역에 YouTube URL 5건 모두 채워짐  · 1·21·51번 + 추가 2문항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8016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B2777"/>
                </a:solidFill>
                <a:latin typeface="맑은 고딕"/>
              </a:rPr>
              <a:t>② 일괄 등록 페이지 — 드롭존</a:t>
            </a:r>
          </a:p>
        </p:txBody>
      </p:sp>
      <p:pic>
        <p:nvPicPr>
          <p:cNvPr id="9" name="Picture 8" descr="batch_emp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91640"/>
            <a:ext cx="4754880" cy="34869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5760" y="5760720"/>
            <a:ext cx="11430000" cy="91440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DB2777"/>
                </a:solidFill>
                <a:latin typeface="맑은 고딕"/>
              </a:rPr>
              <a:t>🔄 입구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1556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1) 운영자가 v3 양식 엑셀에 N개 문항 작성 (강의주소·해설 블록 시퀀스 포함)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2) 일괄 등록 페이지(/admin/register-batch)에 파일 드롭 또는 클릭 선택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3) /api/bulk-parse가 시트 파싱 → 블록 시퀀스 분리 → JSON 배열 반환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10. ✅ 업로드 후 — 5문항 검수 + 한 번에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좌측: 문항 리스트 표 / 우측: 행 클릭 시 실시간 미리보기</a:t>
            </a:r>
          </a:p>
        </p:txBody>
      </p:sp>
      <p:pic>
        <p:nvPicPr>
          <p:cNvPr id="5" name="Picture 4" descr="batch_up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772400" cy="5699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280160"/>
            <a:ext cx="3657600" cy="5303520"/>
          </a:xfrm>
          <a:prstGeom prst="rect">
            <a:avLst/>
          </a:prstGeom>
          <a:solidFill>
            <a:srgbClr val="FAFAFA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66760" y="1417320"/>
            <a:ext cx="3383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맑은 고딕"/>
              </a:rPr>
              <a:t>⚙ 동작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828800"/>
            <a:ext cx="338328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상단 요약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파일명 · 총 N문항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🎬 강의주소 N건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⚠ 그림 마커 N건</a:t>
            </a:r>
          </a:p>
          <a:p>
            <a:pPr algn="l"/>
            <a:endParaRPr sz="1100" b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표 컬럼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# · 문항코드 · 과목 ·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발문 요약 · 정답 ·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🎬 (강의 유무) · 상태</a:t>
            </a:r>
          </a:p>
          <a:p>
            <a:pPr algn="l"/>
            <a:endParaRPr sz="1100" b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상태 컬럼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✓ 정상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⚠ 그림 마커 미해결</a:t>
            </a:r>
          </a:p>
          <a:p>
            <a:pPr algn="l"/>
            <a:endParaRPr sz="1100" b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행 클릭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우측에 미리보기 갱신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(강의 버튼·블록 시퀀스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 모두 그대로 렌더링)</a:t>
            </a:r>
          </a:p>
          <a:p>
            <a:pPr algn="l"/>
            <a:endParaRPr sz="1100" b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◆ 액션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[JSON 다운로드]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   [전체 등록] — 백엔드 미정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맑은 고딕"/>
              </a:rPr>
              <a:t>✅ 엑셀 한 번 업로드 = 5문항 + 강의주소 + 블록 시퀀스 + 그림 마커 모두 일괄 등록 (검수 후)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11. 📚 시험 페이지 — 문항 라이브러리 (등록된 문항 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슬라이드 4·5에서 정의한 분류(세로축) × 속성(가로축)을 실제 UI로 — 정렬 + 필터</a:t>
            </a:r>
          </a:p>
        </p:txBody>
      </p:sp>
      <p:pic>
        <p:nvPicPr>
          <p:cNvPr id="5" name="Picture 4" descr="library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229600" cy="53660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78240" y="1280160"/>
            <a:ext cx="3200400" cy="5029200"/>
          </a:xfrm>
          <a:prstGeom prst="rect">
            <a:avLst/>
          </a:prstGeom>
          <a:solidFill>
            <a:srgbClr val="FAFAFA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141732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891B2"/>
                </a:solidFill>
                <a:latin typeface="맑은 고딕"/>
              </a:rPr>
              <a:t>🗂 좌측 — 분류 트리 (세로축)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783080"/>
            <a:ext cx="29260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과목ID &gt; 챕터 트리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클릭하면 해당 카테고리만 필터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문항 수 카운트 표시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전체 보기 ↔ 카테고리 전환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24612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E11D48"/>
                </a:solidFill>
                <a:latin typeface="맑은 고딕"/>
              </a:rPr>
              <a:t>🏷 상단 — 속성 필터 (가로축)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611880"/>
            <a:ext cx="29260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연도 / 회차 / 문제유형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빈출도 / 난이도 ★ 이상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발문·분류 검색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[초기화] 한 번에 리셋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507492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맑은 고딕"/>
              </a:rPr>
              <a:t>📋 메인 — 표 + 정렬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5440680"/>
            <a:ext cx="29260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컬럼 헤더 클릭 = 정렬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문항코드 / 과목 / 출처 / 빈출 / 난이도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CF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891B2"/>
                </a:solidFill>
                <a:latin typeface="맑은 고딕"/>
              </a:rPr>
              <a:t>🔄 데이터 소스: 일괄 등록한 sample_batch_5문항.xlsx → src/data/questions.json → 페이지 정적 import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12. 🔍 시험 페이지 — 필터·정렬 동작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같은 5문항을 두 가지 다른 조건으로 본 화면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맑은 고딕"/>
              </a:rPr>
              <a:t>① 분류 필터 — 「전기기기」만</a:t>
            </a:r>
          </a:p>
        </p:txBody>
      </p:sp>
      <p:pic>
        <p:nvPicPr>
          <p:cNvPr id="6" name="Picture 5" descr="library_subject_machin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48640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맑은 고딕"/>
              </a:rPr>
              <a:t>② 21번 차동계전기 선택 — 강의 버튼 + 해설 블록 미리보기</a:t>
            </a:r>
          </a:p>
        </p:txBody>
      </p:sp>
      <p:pic>
        <p:nvPicPr>
          <p:cNvPr id="8" name="Picture 7" descr="library_select_q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486400" cy="351078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59669"/>
                </a:solidFill>
                <a:latin typeface="맑은 고딕"/>
              </a:rPr>
              <a:t>✅ 운영자 등록 → 학습자가 분류·속성·강의·정답·해설을 그대로 볼 수 있는 카탈로그까지 한 흐름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1701</Words>
  <Application>Microsoft Office PowerPoint</Application>
  <PresentationFormat>와이드스크린</PresentationFormat>
  <Paragraphs>238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애드투 주식회사</cp:lastModifiedBy>
  <cp:revision>5</cp:revision>
  <dcterms:created xsi:type="dcterms:W3CDTF">2013-01-27T09:14:16Z</dcterms:created>
  <dcterms:modified xsi:type="dcterms:W3CDTF">2026-05-18T05:09:33Z</dcterms:modified>
  <cp:category/>
</cp:coreProperties>
</file>